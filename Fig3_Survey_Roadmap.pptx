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2000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376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C:\Users\icybeef\Downloads\Embodied_AI_China_Communications.pdf (current paper content and section structure)</a:t>
            </a:r>
          </a:p>
          <a:p>
            <a:r>
              <a:t>- C:\Users\icybeef\.codex\attachments\a56c4bba-ecfa-487b-9c0d-4bcbecd1def5\pasted-text.txt (exact LaTeX section and subsection titles)</a:t>
            </a:r>
          </a:p>
          <a:p>
            <a:r>
              <a:t>- C:\Users\icybeef\Desktop\survey画图\Qu et al. - 2025 - Mobile Edge Intelligence for Large Langua.pdf (Fig. 1 outline layout reference)</a:t>
            </a:r>
          </a:p>
          <a:p>
            <a:r>
              <a:t>- C:\Users\icybeef\Desktop\survey画图\Suhong et al. - 2026 - Channel measurement, characterization.pdf (Fig. 2 overview layout reference)</a:t>
            </a:r>
          </a:p>
          <a:p>
            <a:r>
              <a:t>- C:\Users\icybeef\Desktop\survey画图\3.png and 4.png (provided visual references)</a:t>
            </a:r>
          </a:p>
          <a:p>
            <a:r>
              <a:t>- C:\Users\icybeef\Desktop\survey画图\Fig1_LAM_Evolution.pptx and Fig2_LAM_Architecture.pptx (palette and typography reference)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rrow-intro-to-framework">
            <a:extLst>
              <a:ext uri="{FF2B5EF4-FFF2-40B4-BE49-F238E27FC236}">
                <a16:creationId xmlns:a16="http://schemas.microsoft.com/office/drawing/2014/main" id="{686A2662-64D8-45F7-9088-7D9B61415842}"/>
              </a:ext>
            </a:extLst>
          </p:cNvPr>
          <p:cNvSpPr>
            <a:spLocks noGrp="1"/>
          </p:cNvSpPr>
          <p:nvPr/>
        </p:nvSpPr>
        <p:spPr>
          <a:xfrm>
            <a:off x="7858125" y="3105150"/>
            <a:ext cx="285750" cy="228600"/>
          </a:xfrm>
          <a:prstGeom prst="downArrow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</p:sp>
      <p:sp>
        <p:nvSpPr>
          <p:cNvPr id="2" name="arrow-framework-to-enablers">
            <a:extLst>
              <a:ext uri="{FF2B5EF4-FFF2-40B4-BE49-F238E27FC236}">
                <a16:creationId xmlns:a16="http://schemas.microsoft.com/office/drawing/2014/main" id="{FD9C27CC-4F53-4CB9-A7B9-A4FB3889BE87}"/>
              </a:ext>
            </a:extLst>
          </p:cNvPr>
          <p:cNvSpPr>
            <a:spLocks noGrp="1"/>
          </p:cNvSpPr>
          <p:nvPr/>
        </p:nvSpPr>
        <p:spPr>
          <a:xfrm>
            <a:off x="7858125" y="10234295"/>
            <a:ext cx="285750" cy="228600"/>
          </a:xfrm>
          <a:prstGeom prst="downArrow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</p:sp>
      <p:sp>
        <p:nvSpPr>
          <p:cNvPr id="3" name="arrow-enablers-to-case">
            <a:extLst>
              <a:ext uri="{FF2B5EF4-FFF2-40B4-BE49-F238E27FC236}">
                <a16:creationId xmlns:a16="http://schemas.microsoft.com/office/drawing/2014/main" id="{95CC8628-2DF7-4B5B-87DD-5ABCFD1B6CF1}"/>
              </a:ext>
            </a:extLst>
          </p:cNvPr>
          <p:cNvSpPr>
            <a:spLocks noGrp="1"/>
          </p:cNvSpPr>
          <p:nvPr/>
        </p:nvSpPr>
        <p:spPr>
          <a:xfrm>
            <a:off x="7858125" y="14582775"/>
            <a:ext cx="285750" cy="228600"/>
          </a:xfrm>
          <a:prstGeom prst="downArrow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</p:sp>
      <p:sp>
        <p:nvSpPr>
          <p:cNvPr id="4" name="arrow-case-to-outlook">
            <a:extLst>
              <a:ext uri="{FF2B5EF4-FFF2-40B4-BE49-F238E27FC236}">
                <a16:creationId xmlns:a16="http://schemas.microsoft.com/office/drawing/2014/main" id="{F73B9EEE-395C-4C9A-96F7-CA853B649EB8}"/>
              </a:ext>
            </a:extLst>
          </p:cNvPr>
          <p:cNvSpPr>
            <a:spLocks noGrp="1"/>
          </p:cNvSpPr>
          <p:nvPr/>
        </p:nvSpPr>
        <p:spPr>
          <a:xfrm>
            <a:off x="7858125" y="16583025"/>
            <a:ext cx="285750" cy="228600"/>
          </a:xfrm>
          <a:prstGeom prst="downArrow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</p:sp>
      <p:sp>
        <p:nvSpPr>
          <p:cNvPr id="5" name="arrow-outlook-to-conclusion">
            <a:extLst>
              <a:ext uri="{FF2B5EF4-FFF2-40B4-BE49-F238E27FC236}">
                <a16:creationId xmlns:a16="http://schemas.microsoft.com/office/drawing/2014/main" id="{F3242535-2553-46CE-A7B9-9F506F11EFEE}"/>
              </a:ext>
            </a:extLst>
          </p:cNvPr>
          <p:cNvSpPr>
            <a:spLocks noGrp="1"/>
          </p:cNvSpPr>
          <p:nvPr/>
        </p:nvSpPr>
        <p:spPr>
          <a:xfrm>
            <a:off x="7858125" y="18764250"/>
            <a:ext cx="285750" cy="228600"/>
          </a:xfrm>
          <a:prstGeom prst="downArrow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</p:sp>
      <p:sp>
        <p:nvSpPr>
          <p:cNvPr id="6" name="background-rail">
            <a:extLst>
              <a:ext uri="{FF2B5EF4-FFF2-40B4-BE49-F238E27FC236}">
                <a16:creationId xmlns:a16="http://schemas.microsoft.com/office/drawing/2014/main" id="{3A918DD0-9456-40EF-8892-AF2B23963D26}"/>
              </a:ext>
            </a:extLst>
          </p:cNvPr>
          <p:cNvSpPr>
            <a:spLocks noGrp="1"/>
          </p:cNvSpPr>
          <p:nvPr/>
        </p:nvSpPr>
        <p:spPr>
          <a:xfrm>
            <a:off x="47625" y="1381125"/>
            <a:ext cx="1095375" cy="1714500"/>
          </a:xfrm>
          <a:prstGeom prst="roundRect">
            <a:avLst>
              <a:gd name="adj" fmla="val 6957"/>
            </a:avLst>
          </a:prstGeom>
          <a:solidFill>
            <a:srgbClr val="EEF1F3"/>
          </a:solidFill>
          <a:ln w="11430">
            <a:solidFill>
              <a:srgbClr val="70808A"/>
            </a:solidFill>
            <a:prstDash val="solid"/>
          </a:ln>
        </p:spPr>
      </p:sp>
      <p:sp>
        <p:nvSpPr>
          <p:cNvPr id="7" name="background-rail-label">
            <a:extLst>
              <a:ext uri="{FF2B5EF4-FFF2-40B4-BE49-F238E27FC236}">
                <a16:creationId xmlns:a16="http://schemas.microsoft.com/office/drawing/2014/main" id="{EF5E3462-529E-402F-BF28-99F7EDB81099}"/>
              </a:ext>
            </a:extLst>
          </p:cNvPr>
          <p:cNvSpPr>
            <a:spLocks noGrp="1"/>
          </p:cNvSpPr>
          <p:nvPr/>
        </p:nvSpPr>
        <p:spPr>
          <a:xfrm>
            <a:off x="76200" y="1476375"/>
            <a:ext cx="1038225" cy="1524000"/>
          </a:xfrm>
          <a:prstGeom prst="roundRect">
            <a:avLst>
              <a:gd name="adj" fmla="val 7339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70808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0808A"/>
                </a:solidFill>
                <a:latin typeface="Arial"/>
                <a:ea typeface="Arial"/>
                <a:cs typeface="Arial"/>
              </a:rPr>
              <a:t>INTRO</a:t>
            </a:r>
          </a:p>
        </p:txBody>
      </p:sp>
      <p:sp>
        <p:nvSpPr>
          <p:cNvPr id="8" name="comparative-rail">
            <a:extLst>
              <a:ext uri="{FF2B5EF4-FFF2-40B4-BE49-F238E27FC236}">
                <a16:creationId xmlns:a16="http://schemas.microsoft.com/office/drawing/2014/main" id="{783FD175-3D13-41ED-9858-1709E6E990B3}"/>
              </a:ext>
            </a:extLst>
          </p:cNvPr>
          <p:cNvSpPr>
            <a:spLocks noGrp="1"/>
          </p:cNvSpPr>
          <p:nvPr/>
        </p:nvSpPr>
        <p:spPr>
          <a:xfrm>
            <a:off x="47625" y="3333750"/>
            <a:ext cx="1095375" cy="6905625"/>
          </a:xfrm>
          <a:prstGeom prst="roundRect">
            <a:avLst>
              <a:gd name="adj" fmla="val 6957"/>
            </a:avLst>
          </a:prstGeom>
          <a:solidFill>
            <a:srgbClr val="F1ECF4"/>
          </a:solidFill>
          <a:ln w="11430">
            <a:solidFill>
              <a:srgbClr val="75607E"/>
            </a:solidFill>
            <a:prstDash val="solid"/>
          </a:ln>
        </p:spPr>
      </p:sp>
      <p:sp>
        <p:nvSpPr>
          <p:cNvPr id="9" name="comparative-rail-label">
            <a:extLst>
              <a:ext uri="{FF2B5EF4-FFF2-40B4-BE49-F238E27FC236}">
                <a16:creationId xmlns:a16="http://schemas.microsoft.com/office/drawing/2014/main" id="{34E13EC2-792B-49B8-B302-0A034AE50C23}"/>
              </a:ext>
            </a:extLst>
          </p:cNvPr>
          <p:cNvSpPr>
            <a:spLocks noGrp="1"/>
          </p:cNvSpPr>
          <p:nvPr/>
        </p:nvSpPr>
        <p:spPr>
          <a:xfrm>
            <a:off x="76200" y="3429000"/>
            <a:ext cx="1038225" cy="6762750"/>
          </a:xfrm>
          <a:prstGeom prst="roundRect">
            <a:avLst>
              <a:gd name="adj" fmla="val 7339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7560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5607E"/>
                </a:solidFill>
                <a:latin typeface="Arial"/>
                <a:ea typeface="Arial"/>
                <a:cs typeface="Arial"/>
              </a:rPr>
              <a:t>CORE</a:t>
            </a:r>
          </a:p>
          <a:p>
            <a:pPr algn="ctr">
              <a:buNone/>
              <a:defRPr sz="1200" b="1" i="0">
                <a:solidFill>
                  <a:srgbClr val="7560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5607E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10" name="enablers-rail">
            <a:extLst>
              <a:ext uri="{FF2B5EF4-FFF2-40B4-BE49-F238E27FC236}">
                <a16:creationId xmlns:a16="http://schemas.microsoft.com/office/drawing/2014/main" id="{1DD24023-A3CA-4897-8F8A-AB4FE3D8BEC5}"/>
              </a:ext>
            </a:extLst>
          </p:cNvPr>
          <p:cNvSpPr>
            <a:spLocks noGrp="1"/>
          </p:cNvSpPr>
          <p:nvPr/>
        </p:nvSpPr>
        <p:spPr>
          <a:xfrm>
            <a:off x="47625" y="10477500"/>
            <a:ext cx="1095375" cy="4095750"/>
          </a:xfrm>
          <a:prstGeom prst="roundRect">
            <a:avLst>
              <a:gd name="adj" fmla="val 6957"/>
            </a:avLst>
          </a:prstGeom>
          <a:solidFill>
            <a:srgbClr val="EFE4D8"/>
          </a:solidFill>
          <a:ln w="11430">
            <a:solidFill>
              <a:srgbClr val="8A4F5B"/>
            </a:solidFill>
            <a:prstDash val="solid"/>
          </a:ln>
        </p:spPr>
      </p:sp>
      <p:sp>
        <p:nvSpPr>
          <p:cNvPr id="11" name="enablers-rail-label">
            <a:extLst>
              <a:ext uri="{FF2B5EF4-FFF2-40B4-BE49-F238E27FC236}">
                <a16:creationId xmlns:a16="http://schemas.microsoft.com/office/drawing/2014/main" id="{72719A81-1293-4D42-911E-88D4C78DBAEE}"/>
              </a:ext>
            </a:extLst>
          </p:cNvPr>
          <p:cNvSpPr>
            <a:spLocks noGrp="1"/>
          </p:cNvSpPr>
          <p:nvPr/>
        </p:nvSpPr>
        <p:spPr>
          <a:xfrm>
            <a:off x="76200" y="10572750"/>
            <a:ext cx="1038225" cy="3905250"/>
          </a:xfrm>
          <a:prstGeom prst="roundRect">
            <a:avLst>
              <a:gd name="adj" fmla="val 7339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8A4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F5B"/>
                </a:solidFill>
                <a:latin typeface="Arial"/>
                <a:ea typeface="Arial"/>
                <a:cs typeface="Arial"/>
              </a:rPr>
              <a:t>ENABLING</a:t>
            </a:r>
          </a:p>
          <a:p>
            <a:pPr algn="ctr">
              <a:buNone/>
              <a:defRPr sz="1200" b="1" i="0">
                <a:solidFill>
                  <a:srgbClr val="8A4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F5B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12" name="deployment-rail">
            <a:extLst>
              <a:ext uri="{FF2B5EF4-FFF2-40B4-BE49-F238E27FC236}">
                <a16:creationId xmlns:a16="http://schemas.microsoft.com/office/drawing/2014/main" id="{FC1F4CC6-7004-461C-B0CB-009C620F9346}"/>
              </a:ext>
            </a:extLst>
          </p:cNvPr>
          <p:cNvSpPr>
            <a:spLocks noGrp="1"/>
          </p:cNvSpPr>
          <p:nvPr/>
        </p:nvSpPr>
        <p:spPr>
          <a:xfrm>
            <a:off x="47625" y="14811375"/>
            <a:ext cx="1095375" cy="1762125"/>
          </a:xfrm>
          <a:prstGeom prst="roundRect">
            <a:avLst>
              <a:gd name="adj" fmla="val 6957"/>
            </a:avLst>
          </a:prstGeom>
          <a:solidFill>
            <a:srgbClr val="E8F1F8"/>
          </a:solidFill>
          <a:ln w="11430">
            <a:solidFill>
              <a:srgbClr val="47789D"/>
            </a:solidFill>
            <a:prstDash val="solid"/>
          </a:ln>
        </p:spPr>
      </p:sp>
      <p:sp>
        <p:nvSpPr>
          <p:cNvPr id="13" name="deployment-rail-label">
            <a:extLst>
              <a:ext uri="{FF2B5EF4-FFF2-40B4-BE49-F238E27FC236}">
                <a16:creationId xmlns:a16="http://schemas.microsoft.com/office/drawing/2014/main" id="{538AA93A-861F-480B-8F3D-807E1D6BECA1}"/>
              </a:ext>
            </a:extLst>
          </p:cNvPr>
          <p:cNvSpPr>
            <a:spLocks noGrp="1"/>
          </p:cNvSpPr>
          <p:nvPr/>
        </p:nvSpPr>
        <p:spPr>
          <a:xfrm>
            <a:off x="76200" y="14906625"/>
            <a:ext cx="1038225" cy="1571625"/>
          </a:xfrm>
          <a:prstGeom prst="roundRect">
            <a:avLst>
              <a:gd name="adj" fmla="val 7339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47789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7789D"/>
                </a:solidFill>
                <a:latin typeface="Arial"/>
                <a:ea typeface="Arial"/>
                <a:cs typeface="Arial"/>
              </a:rPr>
              <a:t>CASE</a:t>
            </a:r>
          </a:p>
          <a:p>
            <a:pPr algn="ctr">
              <a:buNone/>
              <a:defRPr sz="1200" b="1" i="0">
                <a:solidFill>
                  <a:srgbClr val="47789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7789D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  <p:sp>
        <p:nvSpPr>
          <p:cNvPr id="14" name="outlook-rail">
            <a:extLst>
              <a:ext uri="{FF2B5EF4-FFF2-40B4-BE49-F238E27FC236}">
                <a16:creationId xmlns:a16="http://schemas.microsoft.com/office/drawing/2014/main" id="{B31695FD-7A6B-48E4-9032-7F849DCE31A0}"/>
              </a:ext>
            </a:extLst>
          </p:cNvPr>
          <p:cNvSpPr>
            <a:spLocks noGrp="1"/>
          </p:cNvSpPr>
          <p:nvPr/>
        </p:nvSpPr>
        <p:spPr>
          <a:xfrm>
            <a:off x="47625" y="16811625"/>
            <a:ext cx="1095375" cy="1952625"/>
          </a:xfrm>
          <a:prstGeom prst="roundRect">
            <a:avLst>
              <a:gd name="adj" fmla="val 6957"/>
            </a:avLst>
          </a:prstGeom>
          <a:solidFill>
            <a:srgbClr val="F1ECF4"/>
          </a:solidFill>
          <a:ln w="11430">
            <a:solidFill>
              <a:srgbClr val="75607E"/>
            </a:solidFill>
            <a:prstDash val="solid"/>
          </a:ln>
        </p:spPr>
      </p:sp>
      <p:sp>
        <p:nvSpPr>
          <p:cNvPr id="15" name="outlook-rail-label">
            <a:extLst>
              <a:ext uri="{FF2B5EF4-FFF2-40B4-BE49-F238E27FC236}">
                <a16:creationId xmlns:a16="http://schemas.microsoft.com/office/drawing/2014/main" id="{A69B4ED5-A86C-47F5-A16A-91223615ADA9}"/>
              </a:ext>
            </a:extLst>
          </p:cNvPr>
          <p:cNvSpPr>
            <a:spLocks noGrp="1"/>
          </p:cNvSpPr>
          <p:nvPr/>
        </p:nvSpPr>
        <p:spPr>
          <a:xfrm>
            <a:off x="76200" y="16906875"/>
            <a:ext cx="1038225" cy="1762125"/>
          </a:xfrm>
          <a:prstGeom prst="roundRect">
            <a:avLst>
              <a:gd name="adj" fmla="val 7339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75607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5607E"/>
                </a:solidFill>
                <a:latin typeface="Arial"/>
                <a:ea typeface="Arial"/>
                <a:cs typeface="Arial"/>
              </a:rPr>
              <a:t>OUTLOOK</a:t>
            </a:r>
          </a:p>
        </p:txBody>
      </p:sp>
      <p:sp>
        <p:nvSpPr>
          <p:cNvPr id="16" name="conclusion-rail">
            <a:extLst>
              <a:ext uri="{FF2B5EF4-FFF2-40B4-BE49-F238E27FC236}">
                <a16:creationId xmlns:a16="http://schemas.microsoft.com/office/drawing/2014/main" id="{2205C8E0-75CE-41A6-BC23-1470EA988D47}"/>
              </a:ext>
            </a:extLst>
          </p:cNvPr>
          <p:cNvSpPr>
            <a:spLocks noGrp="1"/>
          </p:cNvSpPr>
          <p:nvPr/>
        </p:nvSpPr>
        <p:spPr>
          <a:xfrm>
            <a:off x="47625" y="19026505"/>
            <a:ext cx="1095375" cy="666750"/>
          </a:xfrm>
          <a:prstGeom prst="roundRect">
            <a:avLst>
              <a:gd name="adj" fmla="val 11429"/>
            </a:avLst>
          </a:prstGeom>
          <a:solidFill>
            <a:srgbClr val="E5F2E8"/>
          </a:solidFill>
          <a:ln w="11430">
            <a:solidFill>
              <a:srgbClr val="4F815B"/>
            </a:solidFill>
            <a:prstDash val="solid"/>
          </a:ln>
        </p:spPr>
      </p:sp>
      <p:sp>
        <p:nvSpPr>
          <p:cNvPr id="17" name="conclusion-rail-label">
            <a:extLst>
              <a:ext uri="{FF2B5EF4-FFF2-40B4-BE49-F238E27FC236}">
                <a16:creationId xmlns:a16="http://schemas.microsoft.com/office/drawing/2014/main" id="{7ACFD29F-30B7-4DE5-BDBE-7657FEBDB63E}"/>
              </a:ext>
            </a:extLst>
          </p:cNvPr>
          <p:cNvSpPr>
            <a:spLocks noGrp="1"/>
          </p:cNvSpPr>
          <p:nvPr/>
        </p:nvSpPr>
        <p:spPr>
          <a:xfrm>
            <a:off x="76200" y="19121755"/>
            <a:ext cx="1038225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  <a:defRPr sz="1200" b="1" i="0">
                <a:solidFill>
                  <a:srgbClr val="4F81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815B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18" name="paper-title-panel">
            <a:extLst>
              <a:ext uri="{FF2B5EF4-FFF2-40B4-BE49-F238E27FC236}">
                <a16:creationId xmlns:a16="http://schemas.microsoft.com/office/drawing/2014/main" id="{FC3BD561-2427-4244-8361-2A641BDE8FCB}"/>
              </a:ext>
            </a:extLst>
          </p:cNvPr>
          <p:cNvSpPr>
            <a:spLocks noGrp="1"/>
          </p:cNvSpPr>
          <p:nvPr/>
        </p:nvSpPr>
        <p:spPr>
          <a:xfrm>
            <a:off x="1238250" y="238125"/>
            <a:ext cx="13668375" cy="952500"/>
          </a:xfrm>
          <a:prstGeom prst="roundRect">
            <a:avLst>
              <a:gd name="adj" fmla="val 12000"/>
            </a:avLst>
          </a:prstGeom>
          <a:solidFill>
            <a:srgbClr val="F5ECEF"/>
          </a:solidFill>
          <a:ln w="14288">
            <a:solidFill>
              <a:srgbClr val="8A4F5B"/>
            </a:solidFill>
            <a:prstDash val="solid"/>
          </a:ln>
        </p:spPr>
      </p:sp>
      <p:sp>
        <p:nvSpPr>
          <p:cNvPr id="19" name="paper-title">
            <a:extLst>
              <a:ext uri="{FF2B5EF4-FFF2-40B4-BE49-F238E27FC236}">
                <a16:creationId xmlns:a16="http://schemas.microsoft.com/office/drawing/2014/main" id="{8501ECCE-B8FA-4E5D-AF17-92E3C35F0B8C}"/>
              </a:ext>
            </a:extLst>
          </p:cNvPr>
          <p:cNvSpPr>
            <a:spLocks noGrp="1"/>
          </p:cNvSpPr>
          <p:nvPr/>
        </p:nvSpPr>
        <p:spPr>
          <a:xfrm>
            <a:off x="1714500" y="323850"/>
            <a:ext cx="12715875" cy="781050"/>
          </a:xfrm>
          <a:prstGeom prst="roundRect">
            <a:avLst>
              <a:gd name="adj" fmla="val 9756"/>
            </a:avLst>
          </a:prstGeom>
          <a:noFill/>
          <a:ln w="0">
            <a:noFill/>
            <a:prstDash val="solid"/>
          </a:ln>
        </p:spPr>
        <p:txBody>
          <a:bodyPr wrap="square" lIns="95250" tIns="38100" rIns="95250" bIns="38100" anchor="ctr">
            <a:noAutofit/>
          </a:bodyPr>
          <a:lstStyle/>
          <a:p>
            <a:pPr algn="ctr">
              <a:buNone/>
              <a:defRPr sz="22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From Generative to Embodied Intelligence:</a:t>
            </a:r>
          </a:p>
          <a:p>
            <a:pPr algn="ctr">
              <a:buNone/>
              <a:defRPr sz="22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Network Evolution for Large-AI-Model Agents</a:t>
            </a:r>
          </a:p>
        </p:txBody>
      </p:sp>
      <p:sp>
        <p:nvSpPr>
          <p:cNvPr id="20" name="section-I-panel">
            <a:extLst>
              <a:ext uri="{FF2B5EF4-FFF2-40B4-BE49-F238E27FC236}">
                <a16:creationId xmlns:a16="http://schemas.microsoft.com/office/drawing/2014/main" id="{B112F2CC-3881-4337-BF87-6C64534F5387}"/>
              </a:ext>
            </a:extLst>
          </p:cNvPr>
          <p:cNvSpPr>
            <a:spLocks noGrp="1"/>
          </p:cNvSpPr>
          <p:nvPr/>
        </p:nvSpPr>
        <p:spPr>
          <a:xfrm>
            <a:off x="1238250" y="1381125"/>
            <a:ext cx="13668375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383">
            <a:solidFill>
              <a:srgbClr val="70808A"/>
            </a:solidFill>
            <a:prstDash val="solid"/>
          </a:ln>
        </p:spPr>
      </p:sp>
      <p:sp>
        <p:nvSpPr>
          <p:cNvPr id="21" name="section-I-title-band">
            <a:extLst>
              <a:ext uri="{FF2B5EF4-FFF2-40B4-BE49-F238E27FC236}">
                <a16:creationId xmlns:a16="http://schemas.microsoft.com/office/drawing/2014/main" id="{A4D3D4BE-58A7-4CC7-AE0C-D329F080E207}"/>
              </a:ext>
            </a:extLst>
          </p:cNvPr>
          <p:cNvSpPr>
            <a:spLocks noGrp="1"/>
          </p:cNvSpPr>
          <p:nvPr/>
        </p:nvSpPr>
        <p:spPr>
          <a:xfrm>
            <a:off x="1247775" y="1390650"/>
            <a:ext cx="13649325" cy="495300"/>
          </a:xfrm>
          <a:prstGeom prst="roundRect">
            <a:avLst>
              <a:gd name="adj" fmla="val 23077"/>
            </a:avLst>
          </a:prstGeom>
          <a:solidFill>
            <a:srgbClr val="EEF1F3"/>
          </a:solidFill>
          <a:ln w="0">
            <a:noFill/>
            <a:prstDash val="solid"/>
          </a:ln>
        </p:spPr>
      </p:sp>
      <p:sp>
        <p:nvSpPr>
          <p:cNvPr id="22" name="section-I-badge">
            <a:extLst>
              <a:ext uri="{FF2B5EF4-FFF2-40B4-BE49-F238E27FC236}">
                <a16:creationId xmlns:a16="http://schemas.microsoft.com/office/drawing/2014/main" id="{326D734D-94CE-4A46-872B-9FA936BBA476}"/>
              </a:ext>
            </a:extLst>
          </p:cNvPr>
          <p:cNvSpPr>
            <a:spLocks noGrp="1"/>
          </p:cNvSpPr>
          <p:nvPr/>
        </p:nvSpPr>
        <p:spPr>
          <a:xfrm>
            <a:off x="1438275" y="1543050"/>
            <a:ext cx="381000" cy="381000"/>
          </a:xfrm>
          <a:prstGeom prst="ellipse">
            <a:avLst/>
          </a:prstGeom>
          <a:solidFill>
            <a:srgbClr val="70808A"/>
          </a:solidFill>
          <a:ln w="0">
            <a:solidFill>
              <a:srgbClr val="70808A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3" name="section-I-title">
            <a:extLst>
              <a:ext uri="{FF2B5EF4-FFF2-40B4-BE49-F238E27FC236}">
                <a16:creationId xmlns:a16="http://schemas.microsoft.com/office/drawing/2014/main" id="{7D935D62-D414-4F27-8764-E0F8FE2AC199}"/>
              </a:ext>
            </a:extLst>
          </p:cNvPr>
          <p:cNvSpPr>
            <a:spLocks noGrp="1"/>
          </p:cNvSpPr>
          <p:nvPr/>
        </p:nvSpPr>
        <p:spPr>
          <a:xfrm>
            <a:off x="1971675" y="1447800"/>
            <a:ext cx="5715000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l">
              <a:buNone/>
              <a:defRPr sz="18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I. Introduction</a:t>
            </a:r>
          </a:p>
        </p:txBody>
      </p:sp>
      <p:sp>
        <p:nvSpPr>
          <p:cNvPr id="26" name="section-I-item-3">
            <a:extLst>
              <a:ext uri="{FF2B5EF4-FFF2-40B4-BE49-F238E27FC236}">
                <a16:creationId xmlns:a16="http://schemas.microsoft.com/office/drawing/2014/main" id="{9744C9F8-7E27-4EB1-BE17-FFB55EC18024}"/>
              </a:ext>
            </a:extLst>
          </p:cNvPr>
          <p:cNvSpPr>
            <a:spLocks noGrp="1"/>
          </p:cNvSpPr>
          <p:nvPr/>
        </p:nvSpPr>
        <p:spPr>
          <a:xfrm>
            <a:off x="8186737" y="2076450"/>
            <a:ext cx="6096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FD6DA"/>
            </a:solidFill>
            <a:prstDash val="solid"/>
          </a:ln>
        </p:spPr>
        <p:txBody>
          <a:bodyPr wrap="square" lIns="95250" tIns="66675" rIns="95250" bIns="66675" anchor="ctr">
            <a:noAutofit/>
          </a:bodyPr>
          <a:lstStyle/>
          <a:p>
            <a:pPr algn="ctr">
              <a:buNone/>
              <a:defRPr sz="13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4313A"/>
                </a:solidFill>
                <a:latin typeface="Arial"/>
                <a:ea typeface="Arial"/>
                <a:cs typeface="Arial"/>
              </a:rPr>
              <a:t>Contributions</a:t>
            </a:r>
          </a:p>
        </p:txBody>
      </p:sp>
      <p:sp>
        <p:nvSpPr>
          <p:cNvPr id="27" name="comparative-framework-group">
            <a:extLst>
              <a:ext uri="{FF2B5EF4-FFF2-40B4-BE49-F238E27FC236}">
                <a16:creationId xmlns:a16="http://schemas.microsoft.com/office/drawing/2014/main" id="{6D495FC8-4B07-4DA6-84AE-07F557959830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13668375" cy="6905625"/>
          </a:xfrm>
          <a:prstGeom prst="roundRect">
            <a:avLst>
              <a:gd name="adj" fmla="val 1644"/>
            </a:avLst>
          </a:prstGeom>
          <a:noFill/>
          <a:ln w="14288">
            <a:solidFill>
              <a:srgbClr val="75607E"/>
            </a:solidFill>
            <a:prstDash val="dash"/>
          </a:ln>
        </p:spPr>
      </p:sp>
      <p:sp>
        <p:nvSpPr>
          <p:cNvPr id="28" name="comparative-framework-title">
            <a:extLst>
              <a:ext uri="{FF2B5EF4-FFF2-40B4-BE49-F238E27FC236}">
                <a16:creationId xmlns:a16="http://schemas.microsoft.com/office/drawing/2014/main" id="{457AC444-FB87-4C55-9135-DF3751EA7562}"/>
              </a:ext>
            </a:extLst>
          </p:cNvPr>
          <p:cNvSpPr>
            <a:spLocks noGrp="1"/>
          </p:cNvSpPr>
          <p:nvPr/>
        </p:nvSpPr>
        <p:spPr>
          <a:xfrm>
            <a:off x="1524000" y="3409950"/>
            <a:ext cx="5524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buNone/>
              <a:defRPr sz="1650" b="1" i="0">
                <a:solidFill>
                  <a:srgbClr val="75607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5607E"/>
                </a:solidFill>
                <a:latin typeface="Arial"/>
                <a:ea typeface="Arial"/>
                <a:cs typeface="Arial"/>
              </a:rPr>
              <a:t>Network-Centric Comparative Framework</a:t>
            </a:r>
          </a:p>
        </p:txBody>
      </p:sp>
      <p:sp>
        <p:nvSpPr>
          <p:cNvPr id="29" name="generative-column-header">
            <a:extLst>
              <a:ext uri="{FF2B5EF4-FFF2-40B4-BE49-F238E27FC236}">
                <a16:creationId xmlns:a16="http://schemas.microsoft.com/office/drawing/2014/main" id="{44EE9E6E-5A39-4FC9-B3D9-DED73C1F1827}"/>
              </a:ext>
            </a:extLst>
          </p:cNvPr>
          <p:cNvSpPr>
            <a:spLocks noGrp="1"/>
          </p:cNvSpPr>
          <p:nvPr/>
        </p:nvSpPr>
        <p:spPr>
          <a:xfrm>
            <a:off x="1666875" y="3857625"/>
            <a:ext cx="3810000" cy="361950"/>
          </a:xfrm>
          <a:prstGeom prst="roundRect">
            <a:avLst>
              <a:gd name="adj" fmla="val 50000"/>
            </a:avLst>
          </a:prstGeom>
          <a:solidFill>
            <a:srgbClr val="BFD7EA"/>
          </a:solidFill>
          <a:ln w="10478">
            <a:solidFill>
              <a:srgbClr val="47789D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buNone/>
              <a:defRPr sz="1350" b="1" i="0">
                <a:solidFill>
                  <a:srgbClr val="47789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7789D"/>
                </a:solidFill>
                <a:latin typeface="Arial"/>
                <a:ea typeface="Arial"/>
                <a:cs typeface="Arial"/>
              </a:rPr>
              <a:t>GENERATIVE LAM</a:t>
            </a:r>
          </a:p>
        </p:txBody>
      </p:sp>
      <p:sp>
        <p:nvSpPr>
          <p:cNvPr id="30" name="agentic-column-header">
            <a:extLst>
              <a:ext uri="{FF2B5EF4-FFF2-40B4-BE49-F238E27FC236}">
                <a16:creationId xmlns:a16="http://schemas.microsoft.com/office/drawing/2014/main" id="{57E0BE50-18D7-4BD3-86CD-B91C6A04CEA2}"/>
              </a:ext>
            </a:extLst>
          </p:cNvPr>
          <p:cNvSpPr>
            <a:spLocks noGrp="1"/>
          </p:cNvSpPr>
          <p:nvPr/>
        </p:nvSpPr>
        <p:spPr>
          <a:xfrm>
            <a:off x="6048375" y="3857625"/>
            <a:ext cx="3810000" cy="361950"/>
          </a:xfrm>
          <a:prstGeom prst="roundRect">
            <a:avLst>
              <a:gd name="adj" fmla="val 50000"/>
            </a:avLst>
          </a:prstGeom>
          <a:solidFill>
            <a:srgbClr val="E8C88E"/>
          </a:solidFill>
          <a:ln w="10478">
            <a:solidFill>
              <a:srgbClr val="A87425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buNone/>
              <a:defRPr sz="1350" b="1" i="0">
                <a:solidFill>
                  <a:srgbClr val="A874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7425"/>
                </a:solidFill>
                <a:latin typeface="Arial"/>
                <a:ea typeface="Arial"/>
                <a:cs typeface="Arial"/>
              </a:rPr>
              <a:t>AGENTIC LAM</a:t>
            </a:r>
          </a:p>
        </p:txBody>
      </p:sp>
      <p:sp>
        <p:nvSpPr>
          <p:cNvPr id="31" name="embodied-column-header">
            <a:extLst>
              <a:ext uri="{FF2B5EF4-FFF2-40B4-BE49-F238E27FC236}">
                <a16:creationId xmlns:a16="http://schemas.microsoft.com/office/drawing/2014/main" id="{6A424EED-819D-4AD0-9A73-D0F0EB79D392}"/>
              </a:ext>
            </a:extLst>
          </p:cNvPr>
          <p:cNvSpPr>
            <a:spLocks noGrp="1"/>
          </p:cNvSpPr>
          <p:nvPr/>
        </p:nvSpPr>
        <p:spPr>
          <a:xfrm>
            <a:off x="10429875" y="3857625"/>
            <a:ext cx="3810000" cy="361950"/>
          </a:xfrm>
          <a:prstGeom prst="roundRect">
            <a:avLst>
              <a:gd name="adj" fmla="val 50000"/>
            </a:avLst>
          </a:prstGeom>
          <a:solidFill>
            <a:srgbClr val="BFDCC5"/>
          </a:solidFill>
          <a:ln w="10478">
            <a:solidFill>
              <a:srgbClr val="4F815B"/>
            </a:solidFill>
            <a:prstDash val="solid"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buNone/>
              <a:defRPr sz="1350" b="1" i="0">
                <a:solidFill>
                  <a:srgbClr val="4F81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F815B"/>
                </a:solidFill>
                <a:latin typeface="Arial"/>
                <a:ea typeface="Arial"/>
                <a:cs typeface="Arial"/>
              </a:rPr>
              <a:t>EMBODIED LAM</a:t>
            </a:r>
          </a:p>
        </p:txBody>
      </p:sp>
      <p:sp>
        <p:nvSpPr>
          <p:cNvPr id="32" name="section-II-panel">
            <a:extLst>
              <a:ext uri="{FF2B5EF4-FFF2-40B4-BE49-F238E27FC236}">
                <a16:creationId xmlns:a16="http://schemas.microsoft.com/office/drawing/2014/main" id="{11E317AF-2006-4ECE-870C-B4F4E6336933}"/>
              </a:ext>
            </a:extLst>
          </p:cNvPr>
          <p:cNvSpPr>
            <a:spLocks noGrp="1"/>
          </p:cNvSpPr>
          <p:nvPr/>
        </p:nvSpPr>
        <p:spPr>
          <a:xfrm>
            <a:off x="1476375" y="4286250"/>
            <a:ext cx="13192125" cy="185737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CFD6DA"/>
            </a:solidFill>
            <a:prstDash val="solid"/>
          </a:ln>
        </p:spPr>
      </p:sp>
      <p:sp>
        <p:nvSpPr>
          <p:cNvPr id="33" name="section-II-title-band">
            <a:extLst>
              <a:ext uri="{FF2B5EF4-FFF2-40B4-BE49-F238E27FC236}">
                <a16:creationId xmlns:a16="http://schemas.microsoft.com/office/drawing/2014/main" id="{4703706E-44A5-4CA0-8A4B-90E38232013A}"/>
              </a:ext>
            </a:extLst>
          </p:cNvPr>
          <p:cNvSpPr>
            <a:spLocks noGrp="1"/>
          </p:cNvSpPr>
          <p:nvPr/>
        </p:nvSpPr>
        <p:spPr>
          <a:xfrm>
            <a:off x="1485900" y="4295775"/>
            <a:ext cx="13173075" cy="466725"/>
          </a:xfrm>
          <a:prstGeom prst="roundRect">
            <a:avLst>
              <a:gd name="adj" fmla="val 24490"/>
            </a:avLst>
          </a:prstGeom>
          <a:solidFill>
            <a:srgbClr val="EFE4D8"/>
          </a:solidFill>
          <a:ln w="0">
            <a:noFill/>
            <a:prstDash val="solid"/>
          </a:ln>
        </p:spPr>
      </p:sp>
      <p:sp>
        <p:nvSpPr>
          <p:cNvPr id="34" name="section-II-badge">
            <a:extLst>
              <a:ext uri="{FF2B5EF4-FFF2-40B4-BE49-F238E27FC236}">
                <a16:creationId xmlns:a16="http://schemas.microsoft.com/office/drawing/2014/main" id="{96D31F54-3951-4FAD-A733-A29E5DE82072}"/>
              </a:ext>
            </a:extLst>
          </p:cNvPr>
          <p:cNvSpPr>
            <a:spLocks noGrp="1"/>
          </p:cNvSpPr>
          <p:nvPr/>
        </p:nvSpPr>
        <p:spPr>
          <a:xfrm>
            <a:off x="1438275" y="4429125"/>
            <a:ext cx="381000" cy="381000"/>
          </a:xfrm>
          <a:prstGeom prst="ellipse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35" name="section-II-title">
            <a:extLst>
              <a:ext uri="{FF2B5EF4-FFF2-40B4-BE49-F238E27FC236}">
                <a16:creationId xmlns:a16="http://schemas.microsoft.com/office/drawing/2014/main" id="{3BB1C575-B2FA-4452-9E28-6E25C84A1E08}"/>
              </a:ext>
            </a:extLst>
          </p:cNvPr>
          <p:cNvSpPr>
            <a:spLocks noGrp="1"/>
          </p:cNvSpPr>
          <p:nvPr/>
        </p:nvSpPr>
        <p:spPr>
          <a:xfrm>
            <a:off x="1971675" y="4333875"/>
            <a:ext cx="12430125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l">
              <a:buNone/>
              <a:defRPr sz="15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II. From Generative to Embodied LAMs: Performance Metrics, Benchmarks, and Model Evolution</a:t>
            </a:r>
          </a:p>
        </p:txBody>
      </p:sp>
      <p:sp>
        <p:nvSpPr>
          <p:cNvPr id="36" name="section-II-generative">
            <a:extLst>
              <a:ext uri="{FF2B5EF4-FFF2-40B4-BE49-F238E27FC236}">
                <a16:creationId xmlns:a16="http://schemas.microsoft.com/office/drawing/2014/main" id="{625E64C1-E547-47D5-AA10-5F0379E0DCF0}"/>
              </a:ext>
            </a:extLst>
          </p:cNvPr>
          <p:cNvSpPr>
            <a:spLocks noGrp="1"/>
          </p:cNvSpPr>
          <p:nvPr/>
        </p:nvSpPr>
        <p:spPr>
          <a:xfrm>
            <a:off x="1666875" y="482917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E8F1F8"/>
          </a:solidFill>
          <a:ln w="9525">
            <a:solidFill>
              <a:srgbClr val="47789D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Generative LAMs</a:t>
            </a:r>
          </a:p>
        </p:txBody>
      </p:sp>
      <p:sp>
        <p:nvSpPr>
          <p:cNvPr id="37" name="section-II-agentic">
            <a:extLst>
              <a:ext uri="{FF2B5EF4-FFF2-40B4-BE49-F238E27FC236}">
                <a16:creationId xmlns:a16="http://schemas.microsoft.com/office/drawing/2014/main" id="{36B6A06F-2C01-47D3-8B03-E156A876996D}"/>
              </a:ext>
            </a:extLst>
          </p:cNvPr>
          <p:cNvSpPr>
            <a:spLocks noGrp="1"/>
          </p:cNvSpPr>
          <p:nvPr/>
        </p:nvSpPr>
        <p:spPr>
          <a:xfrm>
            <a:off x="6048375" y="482917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BF0DC"/>
          </a:solidFill>
          <a:ln w="9525">
            <a:solidFill>
              <a:srgbClr val="A87425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Agentic LAMs</a:t>
            </a:r>
          </a:p>
        </p:txBody>
      </p:sp>
      <p:sp>
        <p:nvSpPr>
          <p:cNvPr id="38" name="section-II-embodied">
            <a:extLst>
              <a:ext uri="{FF2B5EF4-FFF2-40B4-BE49-F238E27FC236}">
                <a16:creationId xmlns:a16="http://schemas.microsoft.com/office/drawing/2014/main" id="{0C4D0680-EA2E-4203-87F4-FF98C6DEB583}"/>
              </a:ext>
            </a:extLst>
          </p:cNvPr>
          <p:cNvSpPr>
            <a:spLocks noGrp="1"/>
          </p:cNvSpPr>
          <p:nvPr/>
        </p:nvSpPr>
        <p:spPr>
          <a:xfrm>
            <a:off x="10429875" y="482917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E5F2E8"/>
          </a:solidFill>
          <a:ln w="9525">
            <a:solidFill>
              <a:srgbClr val="4F815B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Embodied LAMs</a:t>
            </a:r>
          </a:p>
        </p:txBody>
      </p:sp>
      <p:sp>
        <p:nvSpPr>
          <p:cNvPr id="39" name="section-II-laws">
            <a:extLst>
              <a:ext uri="{FF2B5EF4-FFF2-40B4-BE49-F238E27FC236}">
                <a16:creationId xmlns:a16="http://schemas.microsoft.com/office/drawing/2014/main" id="{B8A52D4F-499E-46E0-BF50-672C7C8935C4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12573000" cy="476250"/>
          </a:xfrm>
          <a:prstGeom prst="roundRect">
            <a:avLst>
              <a:gd name="adj" fmla="val 16000"/>
            </a:avLst>
          </a:prstGeom>
          <a:solidFill>
            <a:srgbClr val="F1ECF4"/>
          </a:solidFill>
          <a:ln w="9525">
            <a:solidFill>
              <a:srgbClr val="D9CDDF"/>
            </a:solidFill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Development Laws and a Regression Heuristic</a:t>
            </a:r>
          </a:p>
        </p:txBody>
      </p:sp>
      <p:sp>
        <p:nvSpPr>
          <p:cNvPr id="41" name="section-III-panel">
            <a:extLst>
              <a:ext uri="{FF2B5EF4-FFF2-40B4-BE49-F238E27FC236}">
                <a16:creationId xmlns:a16="http://schemas.microsoft.com/office/drawing/2014/main" id="{2166D608-FF97-43FF-A40A-AD9329E968B0}"/>
              </a:ext>
            </a:extLst>
          </p:cNvPr>
          <p:cNvSpPr>
            <a:spLocks noGrp="1"/>
          </p:cNvSpPr>
          <p:nvPr/>
        </p:nvSpPr>
        <p:spPr>
          <a:xfrm>
            <a:off x="1476375" y="6286500"/>
            <a:ext cx="13192125" cy="185737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CFD6DA"/>
            </a:solidFill>
            <a:prstDash val="solid"/>
          </a:ln>
        </p:spPr>
      </p:sp>
      <p:sp>
        <p:nvSpPr>
          <p:cNvPr id="42" name="section-III-title-band">
            <a:extLst>
              <a:ext uri="{FF2B5EF4-FFF2-40B4-BE49-F238E27FC236}">
                <a16:creationId xmlns:a16="http://schemas.microsoft.com/office/drawing/2014/main" id="{948FA1E9-BBD7-4495-8180-D68396DCF6B6}"/>
              </a:ext>
            </a:extLst>
          </p:cNvPr>
          <p:cNvSpPr>
            <a:spLocks noGrp="1"/>
          </p:cNvSpPr>
          <p:nvPr/>
        </p:nvSpPr>
        <p:spPr>
          <a:xfrm>
            <a:off x="1485900" y="6296025"/>
            <a:ext cx="13173075" cy="466725"/>
          </a:xfrm>
          <a:prstGeom prst="roundRect">
            <a:avLst>
              <a:gd name="adj" fmla="val 24490"/>
            </a:avLst>
          </a:prstGeom>
          <a:solidFill>
            <a:srgbClr val="EFE4D8"/>
          </a:solidFill>
          <a:ln w="0">
            <a:noFill/>
            <a:prstDash val="solid"/>
          </a:ln>
        </p:spPr>
      </p:sp>
      <p:sp>
        <p:nvSpPr>
          <p:cNvPr id="43" name="section-III-badge">
            <a:extLst>
              <a:ext uri="{FF2B5EF4-FFF2-40B4-BE49-F238E27FC236}">
                <a16:creationId xmlns:a16="http://schemas.microsoft.com/office/drawing/2014/main" id="{DA74A735-54AE-48D4-A4CA-A0706C1AAE38}"/>
              </a:ext>
            </a:extLst>
          </p:cNvPr>
          <p:cNvSpPr>
            <a:spLocks noGrp="1"/>
          </p:cNvSpPr>
          <p:nvPr/>
        </p:nvSpPr>
        <p:spPr>
          <a:xfrm>
            <a:off x="1438275" y="6429375"/>
            <a:ext cx="381000" cy="381000"/>
          </a:xfrm>
          <a:prstGeom prst="ellipse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44" name="section-III-title">
            <a:extLst>
              <a:ext uri="{FF2B5EF4-FFF2-40B4-BE49-F238E27FC236}">
                <a16:creationId xmlns:a16="http://schemas.microsoft.com/office/drawing/2014/main" id="{7C569472-2513-40F7-AA78-E5944475B2AB}"/>
              </a:ext>
            </a:extLst>
          </p:cNvPr>
          <p:cNvSpPr>
            <a:spLocks noGrp="1"/>
          </p:cNvSpPr>
          <p:nvPr/>
        </p:nvSpPr>
        <p:spPr>
          <a:xfrm>
            <a:off x="1971675" y="6334125"/>
            <a:ext cx="12430125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l">
              <a:buNone/>
              <a:defRPr sz="15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III. From Generative to Embodied Networks for LAMs: QoS Scale and Model Emphasis</a:t>
            </a:r>
          </a:p>
        </p:txBody>
      </p:sp>
      <p:sp>
        <p:nvSpPr>
          <p:cNvPr id="45" name="section-III-generative">
            <a:extLst>
              <a:ext uri="{FF2B5EF4-FFF2-40B4-BE49-F238E27FC236}">
                <a16:creationId xmlns:a16="http://schemas.microsoft.com/office/drawing/2014/main" id="{EE5F00A5-5096-4E2E-B42A-2D03439B0A73}"/>
              </a:ext>
            </a:extLst>
          </p:cNvPr>
          <p:cNvSpPr>
            <a:spLocks noGrp="1"/>
          </p:cNvSpPr>
          <p:nvPr/>
        </p:nvSpPr>
        <p:spPr>
          <a:xfrm>
            <a:off x="1666875" y="6829425"/>
            <a:ext cx="3810000" cy="1123950"/>
          </a:xfrm>
          <a:prstGeom prst="roundRect">
            <a:avLst>
              <a:gd name="adj" fmla="val 11429"/>
            </a:avLst>
          </a:prstGeom>
          <a:solidFill>
            <a:srgbClr val="E8F1F8"/>
          </a:solidFill>
          <a:ln w="9525">
            <a:solidFill>
              <a:srgbClr val="47789D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Generative Stage: Fidelity and Cost under Elastic Interaction</a:t>
            </a:r>
          </a:p>
        </p:txBody>
      </p:sp>
      <p:sp>
        <p:nvSpPr>
          <p:cNvPr id="46" name="section-III-agentic">
            <a:extLst>
              <a:ext uri="{FF2B5EF4-FFF2-40B4-BE49-F238E27FC236}">
                <a16:creationId xmlns:a16="http://schemas.microsoft.com/office/drawing/2014/main" id="{E7B89B13-F81F-4FEC-8340-93CFC5246AB6}"/>
              </a:ext>
            </a:extLst>
          </p:cNvPr>
          <p:cNvSpPr>
            <a:spLocks noGrp="1"/>
          </p:cNvSpPr>
          <p:nvPr/>
        </p:nvSpPr>
        <p:spPr>
          <a:xfrm>
            <a:off x="6048375" y="6829425"/>
            <a:ext cx="3810000" cy="1123950"/>
          </a:xfrm>
          <a:prstGeom prst="roundRect">
            <a:avLst>
              <a:gd name="adj" fmla="val 11429"/>
            </a:avLst>
          </a:prstGeom>
          <a:solidFill>
            <a:srgbClr val="FBF0DC"/>
          </a:solidFill>
          <a:ln w="9525">
            <a:solidFill>
              <a:srgbClr val="A87425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Agentic Stage: Long-Horizon Goodput, Memory, and Retry</a:t>
            </a:r>
          </a:p>
        </p:txBody>
      </p:sp>
      <p:sp>
        <p:nvSpPr>
          <p:cNvPr id="47" name="section-III-embodied">
            <a:extLst>
              <a:ext uri="{FF2B5EF4-FFF2-40B4-BE49-F238E27FC236}">
                <a16:creationId xmlns:a16="http://schemas.microsoft.com/office/drawing/2014/main" id="{001C28AA-0EB8-4FD5-B3B9-1FDAE5383EC5}"/>
              </a:ext>
            </a:extLst>
          </p:cNvPr>
          <p:cNvSpPr>
            <a:spLocks noGrp="1"/>
          </p:cNvSpPr>
          <p:nvPr/>
        </p:nvSpPr>
        <p:spPr>
          <a:xfrm>
            <a:off x="10429875" y="6829425"/>
            <a:ext cx="3810000" cy="1123950"/>
          </a:xfrm>
          <a:prstGeom prst="roundRect">
            <a:avLst>
              <a:gd name="adj" fmla="val 11429"/>
            </a:avLst>
          </a:prstGeom>
          <a:solidFill>
            <a:srgbClr val="E5F2E8"/>
          </a:solidFill>
          <a:ln w="9525">
            <a:solidFill>
              <a:srgbClr val="4F815B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Embodied Stage: Closed-Loop Timing and Physical Loss</a:t>
            </a:r>
          </a:p>
        </p:txBody>
      </p:sp>
      <p:sp>
        <p:nvSpPr>
          <p:cNvPr id="49" name="section-IV-panel">
            <a:extLst>
              <a:ext uri="{FF2B5EF4-FFF2-40B4-BE49-F238E27FC236}">
                <a16:creationId xmlns:a16="http://schemas.microsoft.com/office/drawing/2014/main" id="{938358E7-769A-4A7D-9D2A-A6D2FC75596A}"/>
              </a:ext>
            </a:extLst>
          </p:cNvPr>
          <p:cNvSpPr>
            <a:spLocks noGrp="1"/>
          </p:cNvSpPr>
          <p:nvPr/>
        </p:nvSpPr>
        <p:spPr>
          <a:xfrm>
            <a:off x="1476375" y="8286750"/>
            <a:ext cx="13192125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1430">
            <a:solidFill>
              <a:srgbClr val="CFD6DA"/>
            </a:solidFill>
            <a:prstDash val="solid"/>
          </a:ln>
        </p:spPr>
      </p:sp>
      <p:sp>
        <p:nvSpPr>
          <p:cNvPr id="50" name="section-IV-title-band">
            <a:extLst>
              <a:ext uri="{FF2B5EF4-FFF2-40B4-BE49-F238E27FC236}">
                <a16:creationId xmlns:a16="http://schemas.microsoft.com/office/drawing/2014/main" id="{3F900CAA-E797-4485-84E8-E2BD102DC159}"/>
              </a:ext>
            </a:extLst>
          </p:cNvPr>
          <p:cNvSpPr>
            <a:spLocks noGrp="1"/>
          </p:cNvSpPr>
          <p:nvPr/>
        </p:nvSpPr>
        <p:spPr>
          <a:xfrm>
            <a:off x="1485900" y="8296275"/>
            <a:ext cx="13173075" cy="466725"/>
          </a:xfrm>
          <a:prstGeom prst="roundRect">
            <a:avLst>
              <a:gd name="adj" fmla="val 24490"/>
            </a:avLst>
          </a:prstGeom>
          <a:solidFill>
            <a:srgbClr val="EFE4D8"/>
          </a:solidFill>
          <a:ln w="0">
            <a:noFill/>
            <a:prstDash val="solid"/>
          </a:ln>
        </p:spPr>
      </p:sp>
      <p:sp>
        <p:nvSpPr>
          <p:cNvPr id="51" name="section-IV-badge">
            <a:extLst>
              <a:ext uri="{FF2B5EF4-FFF2-40B4-BE49-F238E27FC236}">
                <a16:creationId xmlns:a16="http://schemas.microsoft.com/office/drawing/2014/main" id="{20E6C9A2-89E1-4CA8-8EE3-CCBC9C34FBBC}"/>
              </a:ext>
            </a:extLst>
          </p:cNvPr>
          <p:cNvSpPr>
            <a:spLocks noGrp="1"/>
          </p:cNvSpPr>
          <p:nvPr/>
        </p:nvSpPr>
        <p:spPr>
          <a:xfrm>
            <a:off x="1438275" y="8429625"/>
            <a:ext cx="381000" cy="381000"/>
          </a:xfrm>
          <a:prstGeom prst="ellipse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52" name="section-IV-title">
            <a:extLst>
              <a:ext uri="{FF2B5EF4-FFF2-40B4-BE49-F238E27FC236}">
                <a16:creationId xmlns:a16="http://schemas.microsoft.com/office/drawing/2014/main" id="{8FA992B1-BCE5-46C2-A173-5A99D8BD7740}"/>
              </a:ext>
            </a:extLst>
          </p:cNvPr>
          <p:cNvSpPr>
            <a:spLocks noGrp="1"/>
          </p:cNvSpPr>
          <p:nvPr/>
        </p:nvSpPr>
        <p:spPr>
          <a:xfrm>
            <a:off x="1971675" y="8334375"/>
            <a:ext cx="12430125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Autofit/>
          </a:bodyPr>
          <a:lstStyle/>
          <a:p>
            <a:pPr algn="l">
              <a:buNone/>
              <a:defRPr sz="15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IV. From Generative to Embodied Networks for LAMs: Architecture Evolution</a:t>
            </a:r>
          </a:p>
        </p:txBody>
      </p:sp>
      <p:sp>
        <p:nvSpPr>
          <p:cNvPr id="53" name="section-IV-generative">
            <a:extLst>
              <a:ext uri="{FF2B5EF4-FFF2-40B4-BE49-F238E27FC236}">
                <a16:creationId xmlns:a16="http://schemas.microsoft.com/office/drawing/2014/main" id="{C0D1CB1B-D092-4ECA-8F19-B4CF336C5BCE}"/>
              </a:ext>
            </a:extLst>
          </p:cNvPr>
          <p:cNvSpPr>
            <a:spLocks noGrp="1"/>
          </p:cNvSpPr>
          <p:nvPr/>
        </p:nvSpPr>
        <p:spPr>
          <a:xfrm>
            <a:off x="1666875" y="8829675"/>
            <a:ext cx="3810000" cy="1095375"/>
          </a:xfrm>
          <a:prstGeom prst="roundRect">
            <a:avLst>
              <a:gd name="adj" fmla="val 13333"/>
            </a:avLst>
          </a:prstGeom>
          <a:solidFill>
            <a:srgbClr val="E8F1F8"/>
          </a:solidFill>
          <a:ln w="9525">
            <a:solidFill>
              <a:srgbClr val="47789D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Architecture for Generative-LAM Networks</a:t>
            </a:r>
          </a:p>
        </p:txBody>
      </p:sp>
      <p:sp>
        <p:nvSpPr>
          <p:cNvPr id="54" name="section-IV-agentic">
            <a:extLst>
              <a:ext uri="{FF2B5EF4-FFF2-40B4-BE49-F238E27FC236}">
                <a16:creationId xmlns:a16="http://schemas.microsoft.com/office/drawing/2014/main" id="{CF837F52-5EA6-47C5-9D1D-1A70FEF04C73}"/>
              </a:ext>
            </a:extLst>
          </p:cNvPr>
          <p:cNvSpPr>
            <a:spLocks noGrp="1"/>
          </p:cNvSpPr>
          <p:nvPr/>
        </p:nvSpPr>
        <p:spPr>
          <a:xfrm>
            <a:off x="6048375" y="8829675"/>
            <a:ext cx="3810000" cy="1095375"/>
          </a:xfrm>
          <a:prstGeom prst="roundRect">
            <a:avLst>
              <a:gd name="adj" fmla="val 13333"/>
            </a:avLst>
          </a:prstGeom>
          <a:solidFill>
            <a:srgbClr val="FBF0DC"/>
          </a:solidFill>
          <a:ln w="9525">
            <a:solidFill>
              <a:srgbClr val="A87425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Architecture for Agentic-LAM Networks</a:t>
            </a:r>
          </a:p>
        </p:txBody>
      </p:sp>
      <p:sp>
        <p:nvSpPr>
          <p:cNvPr id="55" name="section-IV-embodied">
            <a:extLst>
              <a:ext uri="{FF2B5EF4-FFF2-40B4-BE49-F238E27FC236}">
                <a16:creationId xmlns:a16="http://schemas.microsoft.com/office/drawing/2014/main" id="{4B543CD3-E1C8-42F2-90B4-53041DDDEA49}"/>
              </a:ext>
            </a:extLst>
          </p:cNvPr>
          <p:cNvSpPr>
            <a:spLocks noGrp="1"/>
          </p:cNvSpPr>
          <p:nvPr/>
        </p:nvSpPr>
        <p:spPr>
          <a:xfrm>
            <a:off x="10429875" y="8829675"/>
            <a:ext cx="3810000" cy="1095375"/>
          </a:xfrm>
          <a:prstGeom prst="roundRect">
            <a:avLst>
              <a:gd name="adj" fmla="val 13333"/>
            </a:avLst>
          </a:prstGeom>
          <a:solidFill>
            <a:srgbClr val="E5F2E8"/>
          </a:solidFill>
          <a:ln w="9525">
            <a:solidFill>
              <a:srgbClr val="4F815B"/>
            </a:solidFill>
            <a:prstDash val="solid"/>
          </a:ln>
        </p:spPr>
        <p:txBody>
          <a:bodyPr wrap="square" lIns="85725" tIns="47625" rIns="85725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Architecture for Embodied-LAM Networks</a:t>
            </a:r>
          </a:p>
        </p:txBody>
      </p:sp>
      <p:sp>
        <p:nvSpPr>
          <p:cNvPr id="58" name="section-V-panel">
            <a:extLst>
              <a:ext uri="{FF2B5EF4-FFF2-40B4-BE49-F238E27FC236}">
                <a16:creationId xmlns:a16="http://schemas.microsoft.com/office/drawing/2014/main" id="{F99202B5-B0DB-44A4-8D27-A9EDC2AF1126}"/>
              </a:ext>
            </a:extLst>
          </p:cNvPr>
          <p:cNvSpPr>
            <a:spLocks noGrp="1"/>
          </p:cNvSpPr>
          <p:nvPr/>
        </p:nvSpPr>
        <p:spPr>
          <a:xfrm>
            <a:off x="1238250" y="10477500"/>
            <a:ext cx="13668375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3335">
            <a:solidFill>
              <a:srgbClr val="8A4F5B"/>
            </a:solidFill>
            <a:prstDash val="solid"/>
          </a:ln>
        </p:spPr>
      </p:sp>
      <p:sp>
        <p:nvSpPr>
          <p:cNvPr id="59" name="section-V-title-band">
            <a:extLst>
              <a:ext uri="{FF2B5EF4-FFF2-40B4-BE49-F238E27FC236}">
                <a16:creationId xmlns:a16="http://schemas.microsoft.com/office/drawing/2014/main" id="{237B85A3-4306-4C75-AD63-5F4F0E6E87B8}"/>
              </a:ext>
            </a:extLst>
          </p:cNvPr>
          <p:cNvSpPr>
            <a:spLocks noGrp="1"/>
          </p:cNvSpPr>
          <p:nvPr/>
        </p:nvSpPr>
        <p:spPr>
          <a:xfrm>
            <a:off x="1247775" y="10487025"/>
            <a:ext cx="13649325" cy="590550"/>
          </a:xfrm>
          <a:prstGeom prst="roundRect">
            <a:avLst>
              <a:gd name="adj" fmla="val 19355"/>
            </a:avLst>
          </a:prstGeom>
          <a:solidFill>
            <a:srgbClr val="F5ECEF"/>
          </a:solidFill>
          <a:ln w="0">
            <a:noFill/>
            <a:prstDash val="solid"/>
          </a:ln>
        </p:spPr>
      </p:sp>
      <p:sp>
        <p:nvSpPr>
          <p:cNvPr id="60" name="section-V-badge">
            <a:extLst>
              <a:ext uri="{FF2B5EF4-FFF2-40B4-BE49-F238E27FC236}">
                <a16:creationId xmlns:a16="http://schemas.microsoft.com/office/drawing/2014/main" id="{904E6414-E03B-458A-A689-32EB14132766}"/>
              </a:ext>
            </a:extLst>
          </p:cNvPr>
          <p:cNvSpPr>
            <a:spLocks noGrp="1"/>
          </p:cNvSpPr>
          <p:nvPr/>
        </p:nvSpPr>
        <p:spPr>
          <a:xfrm>
            <a:off x="1438275" y="10648950"/>
            <a:ext cx="381000" cy="381000"/>
          </a:xfrm>
          <a:prstGeom prst="ellipse">
            <a:avLst/>
          </a:prstGeom>
          <a:solidFill>
            <a:srgbClr val="8A4F5B"/>
          </a:solidFill>
          <a:ln w="0">
            <a:solidFill>
              <a:srgbClr val="8A4F5B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61" name="section-V-title">
            <a:extLst>
              <a:ext uri="{FF2B5EF4-FFF2-40B4-BE49-F238E27FC236}">
                <a16:creationId xmlns:a16="http://schemas.microsoft.com/office/drawing/2014/main" id="{9E866E09-F01D-4E82-B56E-506F6552FD3B}"/>
              </a:ext>
            </a:extLst>
          </p:cNvPr>
          <p:cNvSpPr>
            <a:spLocks noGrp="1"/>
          </p:cNvSpPr>
          <p:nvPr/>
        </p:nvSpPr>
        <p:spPr>
          <a:xfrm>
            <a:off x="1971675" y="10544175"/>
            <a:ext cx="12430125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l">
              <a:buNone/>
              <a:defRPr sz="18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V. Improving Networks for LAMs: Key Enabling Technologies</a:t>
            </a:r>
          </a:p>
        </p:txBody>
      </p:sp>
      <p:sp>
        <p:nvSpPr>
          <p:cNvPr id="62" name="section-V-generative-group">
            <a:extLst>
              <a:ext uri="{FF2B5EF4-FFF2-40B4-BE49-F238E27FC236}">
                <a16:creationId xmlns:a16="http://schemas.microsoft.com/office/drawing/2014/main" id="{7F317BA7-D229-40FA-A0B6-E33EC24ED220}"/>
              </a:ext>
            </a:extLst>
          </p:cNvPr>
          <p:cNvSpPr>
            <a:spLocks noGrp="1"/>
          </p:cNvSpPr>
          <p:nvPr/>
        </p:nvSpPr>
        <p:spPr>
          <a:xfrm>
            <a:off x="1619250" y="11239500"/>
            <a:ext cx="4000500" cy="2333625"/>
          </a:xfrm>
          <a:prstGeom prst="roundRect">
            <a:avLst>
              <a:gd name="adj" fmla="val 4898"/>
            </a:avLst>
          </a:prstGeom>
          <a:solidFill>
            <a:srgbClr val="E8F1F8"/>
          </a:solidFill>
          <a:ln w="11430">
            <a:solidFill>
              <a:srgbClr val="47789D"/>
            </a:solidFill>
            <a:prstDash val="solid"/>
          </a:ln>
        </p:spPr>
      </p:sp>
      <p:sp>
        <p:nvSpPr>
          <p:cNvPr id="63" name="section-V-generative-header">
            <a:extLst>
              <a:ext uri="{FF2B5EF4-FFF2-40B4-BE49-F238E27FC236}">
                <a16:creationId xmlns:a16="http://schemas.microsoft.com/office/drawing/2014/main" id="{6E9323A1-DD69-446C-8F8A-BC46BB6CB66A}"/>
              </a:ext>
            </a:extLst>
          </p:cNvPr>
          <p:cNvSpPr>
            <a:spLocks noGrp="1"/>
          </p:cNvSpPr>
          <p:nvPr/>
        </p:nvSpPr>
        <p:spPr>
          <a:xfrm>
            <a:off x="1628775" y="11249025"/>
            <a:ext cx="3981450" cy="409575"/>
          </a:xfrm>
          <a:prstGeom prst="roundRect">
            <a:avLst>
              <a:gd name="adj" fmla="val 27907"/>
            </a:avLst>
          </a:prstGeom>
          <a:solidFill>
            <a:srgbClr val="BFD7EA"/>
          </a:solidFill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47789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7789D"/>
                </a:solidFill>
                <a:latin typeface="Arial"/>
                <a:ea typeface="Arial"/>
                <a:cs typeface="Arial"/>
              </a:rPr>
              <a:t>Enablers for Generative-LAM Networks</a:t>
            </a:r>
          </a:p>
        </p:txBody>
      </p:sp>
      <p:sp>
        <p:nvSpPr>
          <p:cNvPr id="64" name="section-V-generative-item-1">
            <a:extLst>
              <a:ext uri="{FF2B5EF4-FFF2-40B4-BE49-F238E27FC236}">
                <a16:creationId xmlns:a16="http://schemas.microsoft.com/office/drawing/2014/main" id="{8C3ECD31-F8DD-4C2A-949B-ED57762DE6B0}"/>
              </a:ext>
            </a:extLst>
          </p:cNvPr>
          <p:cNvSpPr>
            <a:spLocks noGrp="1"/>
          </p:cNvSpPr>
          <p:nvPr/>
        </p:nvSpPr>
        <p:spPr>
          <a:xfrm>
            <a:off x="1809750" y="11811000"/>
            <a:ext cx="361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Compression and token communications</a:t>
            </a:r>
          </a:p>
        </p:txBody>
      </p:sp>
      <p:sp>
        <p:nvSpPr>
          <p:cNvPr id="65" name="section-V-generative-item-2">
            <a:extLst>
              <a:ext uri="{FF2B5EF4-FFF2-40B4-BE49-F238E27FC236}">
                <a16:creationId xmlns:a16="http://schemas.microsoft.com/office/drawing/2014/main" id="{BFFEFD64-E77C-4250-A721-A75FFCE621A2}"/>
              </a:ext>
            </a:extLst>
          </p:cNvPr>
          <p:cNvSpPr>
            <a:spLocks noGrp="1"/>
          </p:cNvSpPr>
          <p:nvPr/>
        </p:nvSpPr>
        <p:spPr>
          <a:xfrm>
            <a:off x="1809750" y="12620625"/>
            <a:ext cx="361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Split, distributed, and speculative inference</a:t>
            </a:r>
          </a:p>
        </p:txBody>
      </p:sp>
      <p:sp>
        <p:nvSpPr>
          <p:cNvPr id="66" name="section-V-agentic-group">
            <a:extLst>
              <a:ext uri="{FF2B5EF4-FFF2-40B4-BE49-F238E27FC236}">
                <a16:creationId xmlns:a16="http://schemas.microsoft.com/office/drawing/2014/main" id="{391D8836-242D-4321-97A7-2054F5F22679}"/>
              </a:ext>
            </a:extLst>
          </p:cNvPr>
          <p:cNvSpPr>
            <a:spLocks noGrp="1"/>
          </p:cNvSpPr>
          <p:nvPr/>
        </p:nvSpPr>
        <p:spPr>
          <a:xfrm>
            <a:off x="5905500" y="11239500"/>
            <a:ext cx="4000500" cy="2333625"/>
          </a:xfrm>
          <a:prstGeom prst="roundRect">
            <a:avLst>
              <a:gd name="adj" fmla="val 4898"/>
            </a:avLst>
          </a:prstGeom>
          <a:solidFill>
            <a:srgbClr val="FBF0DC"/>
          </a:solidFill>
          <a:ln w="11430">
            <a:solidFill>
              <a:srgbClr val="A87425"/>
            </a:solidFill>
            <a:prstDash val="solid"/>
          </a:ln>
        </p:spPr>
      </p:sp>
      <p:sp>
        <p:nvSpPr>
          <p:cNvPr id="67" name="section-V-agentic-header">
            <a:extLst>
              <a:ext uri="{FF2B5EF4-FFF2-40B4-BE49-F238E27FC236}">
                <a16:creationId xmlns:a16="http://schemas.microsoft.com/office/drawing/2014/main" id="{18F86CE5-AB5E-4FEA-BB14-3A46218C48B2}"/>
              </a:ext>
            </a:extLst>
          </p:cNvPr>
          <p:cNvSpPr>
            <a:spLocks noGrp="1"/>
          </p:cNvSpPr>
          <p:nvPr/>
        </p:nvSpPr>
        <p:spPr>
          <a:xfrm>
            <a:off x="5915025" y="11249025"/>
            <a:ext cx="3981450" cy="409575"/>
          </a:xfrm>
          <a:prstGeom prst="roundRect">
            <a:avLst>
              <a:gd name="adj" fmla="val 27907"/>
            </a:avLst>
          </a:prstGeom>
          <a:solidFill>
            <a:srgbClr val="E8C88E"/>
          </a:solidFill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A8742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87425"/>
                </a:solidFill>
                <a:latin typeface="Arial"/>
                <a:ea typeface="Arial"/>
                <a:cs typeface="Arial"/>
              </a:rPr>
              <a:t>Enablers for Agentic-LAM Networks</a:t>
            </a:r>
          </a:p>
        </p:txBody>
      </p:sp>
      <p:sp>
        <p:nvSpPr>
          <p:cNvPr id="68" name="section-V-agentic-item-1">
            <a:extLst>
              <a:ext uri="{FF2B5EF4-FFF2-40B4-BE49-F238E27FC236}">
                <a16:creationId xmlns:a16="http://schemas.microsoft.com/office/drawing/2014/main" id="{3DD3B6E0-E908-4446-81DE-C307014A28E2}"/>
              </a:ext>
            </a:extLst>
          </p:cNvPr>
          <p:cNvSpPr>
            <a:spLocks noGrp="1"/>
          </p:cNvSpPr>
          <p:nvPr/>
        </p:nvSpPr>
        <p:spPr>
          <a:xfrm>
            <a:off x="6096000" y="11811001"/>
            <a:ext cx="361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C88E"/>
            </a:solidFill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4313A"/>
                </a:solidFill>
                <a:latin typeface="Arial"/>
                <a:ea typeface="Arial"/>
                <a:cs typeface="Arial"/>
              </a:rPr>
              <a:t>Reliable collaboration</a:t>
            </a:r>
          </a:p>
        </p:txBody>
      </p:sp>
      <p:sp>
        <p:nvSpPr>
          <p:cNvPr id="70" name="section-V-embodied-group">
            <a:extLst>
              <a:ext uri="{FF2B5EF4-FFF2-40B4-BE49-F238E27FC236}">
                <a16:creationId xmlns:a16="http://schemas.microsoft.com/office/drawing/2014/main" id="{C276F9C7-3C58-4EC2-9C56-DA5488D4CC65}"/>
              </a:ext>
            </a:extLst>
          </p:cNvPr>
          <p:cNvSpPr>
            <a:spLocks noGrp="1"/>
          </p:cNvSpPr>
          <p:nvPr/>
        </p:nvSpPr>
        <p:spPr>
          <a:xfrm>
            <a:off x="10191750" y="11239500"/>
            <a:ext cx="4333875" cy="2333625"/>
          </a:xfrm>
          <a:prstGeom prst="roundRect">
            <a:avLst>
              <a:gd name="adj" fmla="val 4898"/>
            </a:avLst>
          </a:prstGeom>
          <a:solidFill>
            <a:srgbClr val="E5F2E8"/>
          </a:solidFill>
          <a:ln w="11430">
            <a:solidFill>
              <a:srgbClr val="4F815B"/>
            </a:solidFill>
            <a:prstDash val="solid"/>
          </a:ln>
        </p:spPr>
      </p:sp>
      <p:sp>
        <p:nvSpPr>
          <p:cNvPr id="71" name="section-V-embodied-header">
            <a:extLst>
              <a:ext uri="{FF2B5EF4-FFF2-40B4-BE49-F238E27FC236}">
                <a16:creationId xmlns:a16="http://schemas.microsoft.com/office/drawing/2014/main" id="{3A9FDC45-C8F3-4DC5-9A97-4C940C77264E}"/>
              </a:ext>
            </a:extLst>
          </p:cNvPr>
          <p:cNvSpPr>
            <a:spLocks noGrp="1"/>
          </p:cNvSpPr>
          <p:nvPr/>
        </p:nvSpPr>
        <p:spPr>
          <a:xfrm>
            <a:off x="10201275" y="11249025"/>
            <a:ext cx="4314825" cy="409575"/>
          </a:xfrm>
          <a:prstGeom prst="roundRect">
            <a:avLst>
              <a:gd name="adj" fmla="val 27907"/>
            </a:avLst>
          </a:prstGeom>
          <a:solidFill>
            <a:srgbClr val="BFDCC5"/>
          </a:solidFill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4F81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F815B"/>
                </a:solidFill>
                <a:latin typeface="Arial"/>
                <a:ea typeface="Arial"/>
                <a:cs typeface="Arial"/>
              </a:rPr>
              <a:t>Enablers for Embodied-LAM Networks</a:t>
            </a:r>
          </a:p>
        </p:txBody>
      </p:sp>
      <p:sp>
        <p:nvSpPr>
          <p:cNvPr id="72" name="section-V-embodied-item-1">
            <a:extLst>
              <a:ext uri="{FF2B5EF4-FFF2-40B4-BE49-F238E27FC236}">
                <a16:creationId xmlns:a16="http://schemas.microsoft.com/office/drawing/2014/main" id="{A44D738E-A4B0-46E8-9B21-7ED1B10A1FBC}"/>
              </a:ext>
            </a:extLst>
          </p:cNvPr>
          <p:cNvSpPr>
            <a:spLocks noGrp="1"/>
          </p:cNvSpPr>
          <p:nvPr/>
        </p:nvSpPr>
        <p:spPr>
          <a:xfrm>
            <a:off x="10334625" y="11791950"/>
            <a:ext cx="19716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CC5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Control-loss-aware token selection</a:t>
            </a:r>
          </a:p>
        </p:txBody>
      </p:sp>
      <p:sp>
        <p:nvSpPr>
          <p:cNvPr id="73" name="section-V-embodied-item-2">
            <a:extLst>
              <a:ext uri="{FF2B5EF4-FFF2-40B4-BE49-F238E27FC236}">
                <a16:creationId xmlns:a16="http://schemas.microsoft.com/office/drawing/2014/main" id="{A28B73F5-7042-4F86-BAAA-1BE96A0DD210}"/>
              </a:ext>
            </a:extLst>
          </p:cNvPr>
          <p:cNvSpPr>
            <a:spLocks noGrp="1"/>
          </p:cNvSpPr>
          <p:nvPr/>
        </p:nvSpPr>
        <p:spPr>
          <a:xfrm>
            <a:off x="12411075" y="11791950"/>
            <a:ext cx="19716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CC5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Finite-blocklength and deterministic transport</a:t>
            </a:r>
          </a:p>
        </p:txBody>
      </p:sp>
      <p:sp>
        <p:nvSpPr>
          <p:cNvPr id="74" name="section-V-embodied-item-3">
            <a:extLst>
              <a:ext uri="{FF2B5EF4-FFF2-40B4-BE49-F238E27FC236}">
                <a16:creationId xmlns:a16="http://schemas.microsoft.com/office/drawing/2014/main" id="{4DE9A60E-56F9-4A55-B09B-C36234DDCA52}"/>
              </a:ext>
            </a:extLst>
          </p:cNvPr>
          <p:cNvSpPr>
            <a:spLocks noGrp="1"/>
          </p:cNvSpPr>
          <p:nvPr/>
        </p:nvSpPr>
        <p:spPr>
          <a:xfrm>
            <a:off x="10334625" y="12601575"/>
            <a:ext cx="19716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CC5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Semantic and goal-oriented communication</a:t>
            </a:r>
          </a:p>
        </p:txBody>
      </p:sp>
      <p:sp>
        <p:nvSpPr>
          <p:cNvPr id="75" name="section-V-embodied-item-4">
            <a:extLst>
              <a:ext uri="{FF2B5EF4-FFF2-40B4-BE49-F238E27FC236}">
                <a16:creationId xmlns:a16="http://schemas.microsoft.com/office/drawing/2014/main" id="{6DE5394E-C1E8-4678-B36B-D96FE51070BB}"/>
              </a:ext>
            </a:extLst>
          </p:cNvPr>
          <p:cNvSpPr>
            <a:spLocks noGrp="1"/>
          </p:cNvSpPr>
          <p:nvPr/>
        </p:nvSpPr>
        <p:spPr>
          <a:xfrm>
            <a:off x="12411075" y="12601575"/>
            <a:ext cx="19716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DCC5"/>
            </a:solidFill>
            <a:prstDash val="solid"/>
          </a:ln>
        </p:spPr>
        <p:txBody>
          <a:bodyPr wrap="square" lIns="57150" tIns="47625" rIns="57150" bIns="47625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Communication--control co-design and dynamic model sharing</a:t>
            </a:r>
          </a:p>
        </p:txBody>
      </p:sp>
      <p:sp>
        <p:nvSpPr>
          <p:cNvPr id="76" name="cross-stage-plane-ribbon">
            <a:extLst>
              <a:ext uri="{FF2B5EF4-FFF2-40B4-BE49-F238E27FC236}">
                <a16:creationId xmlns:a16="http://schemas.microsoft.com/office/drawing/2014/main" id="{A8A8E525-3DBC-43B9-A4CE-DCC7CD93C19C}"/>
              </a:ext>
            </a:extLst>
          </p:cNvPr>
          <p:cNvSpPr>
            <a:spLocks noGrp="1"/>
          </p:cNvSpPr>
          <p:nvPr/>
        </p:nvSpPr>
        <p:spPr>
          <a:xfrm>
            <a:off x="1619250" y="13735050"/>
            <a:ext cx="12906375" cy="514350"/>
          </a:xfrm>
          <a:prstGeom prst="roundRect">
            <a:avLst>
              <a:gd name="adj" fmla="val 14815"/>
            </a:avLst>
          </a:prstGeom>
          <a:solidFill>
            <a:srgbClr val="EEF1F3"/>
          </a:solidFill>
          <a:ln w="10478">
            <a:solidFill>
              <a:srgbClr val="8A4F5B"/>
            </a:solidFill>
            <a:prstDash val="solid"/>
          </a:ln>
        </p:spPr>
      </p:sp>
      <p:sp>
        <p:nvSpPr>
          <p:cNvPr id="77" name="plane-divider-1">
            <a:extLst>
              <a:ext uri="{FF2B5EF4-FFF2-40B4-BE49-F238E27FC236}">
                <a16:creationId xmlns:a16="http://schemas.microsoft.com/office/drawing/2014/main" id="{19563EC7-DE27-41A0-9DA0-120A22452F1A}"/>
              </a:ext>
            </a:extLst>
          </p:cNvPr>
          <p:cNvSpPr>
            <a:spLocks noGrp="1"/>
          </p:cNvSpPr>
          <p:nvPr/>
        </p:nvSpPr>
        <p:spPr>
          <a:xfrm>
            <a:off x="5915025" y="13830300"/>
            <a:ext cx="9525" cy="323850"/>
          </a:xfrm>
          <a:prstGeom prst="rect">
            <a:avLst/>
          </a:prstGeom>
          <a:solidFill>
            <a:srgbClr val="CFD6DA"/>
          </a:solidFill>
          <a:ln w="0">
            <a:solidFill>
              <a:srgbClr val="CFD6DA"/>
            </a:solidFill>
            <a:prstDash val="solid"/>
          </a:ln>
        </p:spPr>
      </p:sp>
      <p:sp>
        <p:nvSpPr>
          <p:cNvPr id="78" name="plane-divider-2">
            <a:extLst>
              <a:ext uri="{FF2B5EF4-FFF2-40B4-BE49-F238E27FC236}">
                <a16:creationId xmlns:a16="http://schemas.microsoft.com/office/drawing/2014/main" id="{B8BB59E8-AA37-4D32-98C6-CB1DAF0749B4}"/>
              </a:ext>
            </a:extLst>
          </p:cNvPr>
          <p:cNvSpPr>
            <a:spLocks noGrp="1"/>
          </p:cNvSpPr>
          <p:nvPr/>
        </p:nvSpPr>
        <p:spPr>
          <a:xfrm>
            <a:off x="10220325" y="13830300"/>
            <a:ext cx="9525" cy="323850"/>
          </a:xfrm>
          <a:prstGeom prst="rect">
            <a:avLst/>
          </a:prstGeom>
          <a:solidFill>
            <a:srgbClr val="CFD6DA"/>
          </a:solidFill>
          <a:ln w="0">
            <a:solidFill>
              <a:srgbClr val="CFD6DA"/>
            </a:solidFill>
            <a:prstDash val="solid"/>
          </a:ln>
        </p:spPr>
      </p:sp>
      <p:sp>
        <p:nvSpPr>
          <p:cNvPr id="79" name="token-plane">
            <a:extLst>
              <a:ext uri="{FF2B5EF4-FFF2-40B4-BE49-F238E27FC236}">
                <a16:creationId xmlns:a16="http://schemas.microsoft.com/office/drawing/2014/main" id="{9FE0F599-08D9-4038-9B19-40EF9DD39B8A}"/>
              </a:ext>
            </a:extLst>
          </p:cNvPr>
          <p:cNvSpPr>
            <a:spLocks noGrp="1"/>
          </p:cNvSpPr>
          <p:nvPr/>
        </p:nvSpPr>
        <p:spPr>
          <a:xfrm>
            <a:off x="1809750" y="13792200"/>
            <a:ext cx="3905250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8A4F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A4F5B"/>
                </a:solidFill>
                <a:latin typeface="Arial"/>
                <a:ea typeface="Arial"/>
                <a:cs typeface="Arial"/>
              </a:rPr>
              <a:t>TOKEN PLANE</a:t>
            </a:r>
          </a:p>
        </p:txBody>
      </p:sp>
      <p:sp>
        <p:nvSpPr>
          <p:cNvPr id="80" name="transport-plane">
            <a:extLst>
              <a:ext uri="{FF2B5EF4-FFF2-40B4-BE49-F238E27FC236}">
                <a16:creationId xmlns:a16="http://schemas.microsoft.com/office/drawing/2014/main" id="{3B71DAE0-B77B-4AAC-84C3-847AD17764EB}"/>
              </a:ext>
            </a:extLst>
          </p:cNvPr>
          <p:cNvSpPr>
            <a:spLocks noGrp="1"/>
          </p:cNvSpPr>
          <p:nvPr/>
        </p:nvSpPr>
        <p:spPr>
          <a:xfrm>
            <a:off x="6115050" y="13792200"/>
            <a:ext cx="3905250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8A4F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A4F5B"/>
                </a:solidFill>
                <a:latin typeface="Arial"/>
                <a:ea typeface="Arial"/>
                <a:cs typeface="Arial"/>
              </a:rPr>
              <a:t>TRANSPORT PLANE</a:t>
            </a:r>
          </a:p>
        </p:txBody>
      </p:sp>
      <p:sp>
        <p:nvSpPr>
          <p:cNvPr id="81" name="coordination-plane">
            <a:extLst>
              <a:ext uri="{FF2B5EF4-FFF2-40B4-BE49-F238E27FC236}">
                <a16:creationId xmlns:a16="http://schemas.microsoft.com/office/drawing/2014/main" id="{234293F7-F24E-4100-BA77-62B7BFDFE7A7}"/>
              </a:ext>
            </a:extLst>
          </p:cNvPr>
          <p:cNvSpPr>
            <a:spLocks noGrp="1"/>
          </p:cNvSpPr>
          <p:nvPr/>
        </p:nvSpPr>
        <p:spPr>
          <a:xfrm>
            <a:off x="10420350" y="13792200"/>
            <a:ext cx="3905250" cy="400050"/>
          </a:xfrm>
          <a:prstGeom prst="roundRect">
            <a:avLst>
              <a:gd name="adj" fmla="val 19048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350" b="1" i="0">
                <a:solidFill>
                  <a:srgbClr val="8A4F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A4F5B"/>
                </a:solidFill>
                <a:latin typeface="Arial"/>
                <a:ea typeface="Arial"/>
                <a:cs typeface="Arial"/>
              </a:rPr>
              <a:t>COORDINATION PLANE</a:t>
            </a:r>
          </a:p>
        </p:txBody>
      </p:sp>
      <p:sp>
        <p:nvSpPr>
          <p:cNvPr id="82" name="section-VI-panel">
            <a:extLst>
              <a:ext uri="{FF2B5EF4-FFF2-40B4-BE49-F238E27FC236}">
                <a16:creationId xmlns:a16="http://schemas.microsoft.com/office/drawing/2014/main" id="{9CDC527F-EDCE-40DA-9D8F-A417B19FE054}"/>
              </a:ext>
            </a:extLst>
          </p:cNvPr>
          <p:cNvSpPr>
            <a:spLocks noGrp="1"/>
          </p:cNvSpPr>
          <p:nvPr/>
        </p:nvSpPr>
        <p:spPr>
          <a:xfrm>
            <a:off x="1238250" y="14811375"/>
            <a:ext cx="13668375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383">
            <a:solidFill>
              <a:srgbClr val="47789D"/>
            </a:solidFill>
            <a:prstDash val="solid"/>
          </a:ln>
        </p:spPr>
      </p:sp>
      <p:sp>
        <p:nvSpPr>
          <p:cNvPr id="83" name="section-VI-title-band">
            <a:extLst>
              <a:ext uri="{FF2B5EF4-FFF2-40B4-BE49-F238E27FC236}">
                <a16:creationId xmlns:a16="http://schemas.microsoft.com/office/drawing/2014/main" id="{F9BB440F-B8CF-4EA9-B6DC-2C52784CE165}"/>
              </a:ext>
            </a:extLst>
          </p:cNvPr>
          <p:cNvSpPr>
            <a:spLocks noGrp="1"/>
          </p:cNvSpPr>
          <p:nvPr/>
        </p:nvSpPr>
        <p:spPr>
          <a:xfrm>
            <a:off x="1247775" y="14820900"/>
            <a:ext cx="13649325" cy="552450"/>
          </a:xfrm>
          <a:prstGeom prst="roundRect">
            <a:avLst>
              <a:gd name="adj" fmla="val 20690"/>
            </a:avLst>
          </a:prstGeom>
          <a:solidFill>
            <a:srgbClr val="E8F1F8"/>
          </a:solidFill>
          <a:ln w="0">
            <a:noFill/>
            <a:prstDash val="solid"/>
          </a:ln>
        </p:spPr>
      </p:sp>
      <p:sp>
        <p:nvSpPr>
          <p:cNvPr id="84" name="section-VI-badge">
            <a:extLst>
              <a:ext uri="{FF2B5EF4-FFF2-40B4-BE49-F238E27FC236}">
                <a16:creationId xmlns:a16="http://schemas.microsoft.com/office/drawing/2014/main" id="{D7468FCE-3CF4-4F0A-890C-1A2A1BAF6D49}"/>
              </a:ext>
            </a:extLst>
          </p:cNvPr>
          <p:cNvSpPr>
            <a:spLocks noGrp="1"/>
          </p:cNvSpPr>
          <p:nvPr/>
        </p:nvSpPr>
        <p:spPr>
          <a:xfrm>
            <a:off x="1438275" y="14982825"/>
            <a:ext cx="381000" cy="381000"/>
          </a:xfrm>
          <a:prstGeom prst="ellipse">
            <a:avLst/>
          </a:prstGeom>
          <a:solidFill>
            <a:srgbClr val="47789D"/>
          </a:solidFill>
          <a:ln w="0">
            <a:solidFill>
              <a:srgbClr val="47789D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</a:t>
            </a:r>
          </a:p>
        </p:txBody>
      </p:sp>
      <p:sp>
        <p:nvSpPr>
          <p:cNvPr id="85" name="section-VI-title">
            <a:extLst>
              <a:ext uri="{FF2B5EF4-FFF2-40B4-BE49-F238E27FC236}">
                <a16:creationId xmlns:a16="http://schemas.microsoft.com/office/drawing/2014/main" id="{5614B9D1-CFEB-4394-89EB-483204FE7D64}"/>
              </a:ext>
            </a:extLst>
          </p:cNvPr>
          <p:cNvSpPr>
            <a:spLocks noGrp="1"/>
          </p:cNvSpPr>
          <p:nvPr/>
        </p:nvSpPr>
        <p:spPr>
          <a:xfrm>
            <a:off x="1971675" y="14878050"/>
            <a:ext cx="12430125" cy="438150"/>
          </a:xfrm>
          <a:prstGeom prst="roundRect">
            <a:avLst>
              <a:gd name="adj" fmla="val 17391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l">
              <a:buNone/>
              <a:defRPr sz="172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VI. Case Study: Two-Stage Recognition of LAM Traffic</a:t>
            </a:r>
          </a:p>
        </p:txBody>
      </p:sp>
      <p:sp>
        <p:nvSpPr>
          <p:cNvPr id="86" name="case-flow-arrow-1">
            <a:extLst>
              <a:ext uri="{FF2B5EF4-FFF2-40B4-BE49-F238E27FC236}">
                <a16:creationId xmlns:a16="http://schemas.microsoft.com/office/drawing/2014/main" id="{760C3675-D84D-400B-9201-6369A367D725}"/>
              </a:ext>
            </a:extLst>
          </p:cNvPr>
          <p:cNvSpPr>
            <a:spLocks noGrp="1"/>
          </p:cNvSpPr>
          <p:nvPr/>
        </p:nvSpPr>
        <p:spPr>
          <a:xfrm>
            <a:off x="7620000" y="15782925"/>
            <a:ext cx="571500" cy="209550"/>
          </a:xfrm>
          <a:prstGeom prst="rightArrow">
            <a:avLst/>
          </a:prstGeom>
          <a:solidFill>
            <a:srgbClr val="BFD7EA"/>
          </a:solidFill>
          <a:ln w="0">
            <a:solidFill>
              <a:srgbClr val="BFD7EA"/>
            </a:solidFill>
            <a:prstDash val="solid"/>
          </a:ln>
        </p:spPr>
      </p:sp>
      <p:sp>
        <p:nvSpPr>
          <p:cNvPr id="88" name="section-VI-item-1">
            <a:extLst>
              <a:ext uri="{FF2B5EF4-FFF2-40B4-BE49-F238E27FC236}">
                <a16:creationId xmlns:a16="http://schemas.microsoft.com/office/drawing/2014/main" id="{6B0A9272-86E2-48AA-8619-90DAE8808D89}"/>
              </a:ext>
            </a:extLst>
          </p:cNvPr>
          <p:cNvSpPr>
            <a:spLocks noGrp="1"/>
          </p:cNvSpPr>
          <p:nvPr/>
        </p:nvSpPr>
        <p:spPr>
          <a:xfrm>
            <a:off x="1666875" y="15573375"/>
            <a:ext cx="561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47789D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/>
          <a:p>
            <a:pPr algn="ctr">
              <a:buNone/>
              <a:defRPr sz="13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Phase I: Passive Traffic Recognition Experiment</a:t>
            </a:r>
          </a:p>
        </p:txBody>
      </p:sp>
      <p:sp>
        <p:nvSpPr>
          <p:cNvPr id="89" name="section-VI-item-2">
            <a:extLst>
              <a:ext uri="{FF2B5EF4-FFF2-40B4-BE49-F238E27FC236}">
                <a16:creationId xmlns:a16="http://schemas.microsoft.com/office/drawing/2014/main" id="{347371AB-20B8-454F-B249-DC2637380677}"/>
              </a:ext>
            </a:extLst>
          </p:cNvPr>
          <p:cNvSpPr>
            <a:spLocks noGrp="1"/>
          </p:cNvSpPr>
          <p:nvPr/>
        </p:nvSpPr>
        <p:spPr>
          <a:xfrm>
            <a:off x="8572500" y="15573375"/>
            <a:ext cx="561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47789D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/>
          <a:p>
            <a:pPr algn="ctr">
              <a:buNone/>
              <a:defRPr sz="13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Phase II: Active Recognition and QoS Mapping</a:t>
            </a:r>
          </a:p>
        </p:txBody>
      </p:sp>
      <p:sp>
        <p:nvSpPr>
          <p:cNvPr id="91" name="section-VII-panel">
            <a:extLst>
              <a:ext uri="{FF2B5EF4-FFF2-40B4-BE49-F238E27FC236}">
                <a16:creationId xmlns:a16="http://schemas.microsoft.com/office/drawing/2014/main" id="{0EE8120C-7537-4158-8275-E4BA59AB9DD6}"/>
              </a:ext>
            </a:extLst>
          </p:cNvPr>
          <p:cNvSpPr>
            <a:spLocks noGrp="1"/>
          </p:cNvSpPr>
          <p:nvPr/>
        </p:nvSpPr>
        <p:spPr>
          <a:xfrm>
            <a:off x="1238250" y="16811625"/>
            <a:ext cx="13668375" cy="1952625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383">
            <a:solidFill>
              <a:srgbClr val="75607E"/>
            </a:solidFill>
            <a:prstDash val="solid"/>
          </a:ln>
        </p:spPr>
      </p:sp>
      <p:sp>
        <p:nvSpPr>
          <p:cNvPr id="92" name="section-VII-title-band">
            <a:extLst>
              <a:ext uri="{FF2B5EF4-FFF2-40B4-BE49-F238E27FC236}">
                <a16:creationId xmlns:a16="http://schemas.microsoft.com/office/drawing/2014/main" id="{3CE6296A-8E64-45D0-B063-49E07CB6EC12}"/>
              </a:ext>
            </a:extLst>
          </p:cNvPr>
          <p:cNvSpPr>
            <a:spLocks noGrp="1"/>
          </p:cNvSpPr>
          <p:nvPr/>
        </p:nvSpPr>
        <p:spPr>
          <a:xfrm>
            <a:off x="1247775" y="16821150"/>
            <a:ext cx="13649325" cy="523875"/>
          </a:xfrm>
          <a:prstGeom prst="roundRect">
            <a:avLst>
              <a:gd name="adj" fmla="val 21818"/>
            </a:avLst>
          </a:prstGeom>
          <a:solidFill>
            <a:srgbClr val="F1ECF4"/>
          </a:solidFill>
          <a:ln w="0">
            <a:noFill/>
            <a:prstDash val="solid"/>
          </a:ln>
        </p:spPr>
      </p:sp>
      <p:sp>
        <p:nvSpPr>
          <p:cNvPr id="93" name="section-VII-badge">
            <a:extLst>
              <a:ext uri="{FF2B5EF4-FFF2-40B4-BE49-F238E27FC236}">
                <a16:creationId xmlns:a16="http://schemas.microsoft.com/office/drawing/2014/main" id="{A7B9A4B9-8CB3-4152-AC70-C1D699598748}"/>
              </a:ext>
            </a:extLst>
          </p:cNvPr>
          <p:cNvSpPr>
            <a:spLocks noGrp="1"/>
          </p:cNvSpPr>
          <p:nvPr/>
        </p:nvSpPr>
        <p:spPr>
          <a:xfrm>
            <a:off x="1438275" y="16973550"/>
            <a:ext cx="381000" cy="381000"/>
          </a:xfrm>
          <a:prstGeom prst="ellipse">
            <a:avLst/>
          </a:prstGeom>
          <a:solidFill>
            <a:srgbClr val="75607E"/>
          </a:solidFill>
          <a:ln w="0">
            <a:solidFill>
              <a:srgbClr val="75607E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VII</a:t>
            </a:r>
          </a:p>
        </p:txBody>
      </p:sp>
      <p:sp>
        <p:nvSpPr>
          <p:cNvPr id="94" name="section-VII-title">
            <a:extLst>
              <a:ext uri="{FF2B5EF4-FFF2-40B4-BE49-F238E27FC236}">
                <a16:creationId xmlns:a16="http://schemas.microsoft.com/office/drawing/2014/main" id="{08DA3F20-5B66-46E8-8149-EABCF6CC979D}"/>
              </a:ext>
            </a:extLst>
          </p:cNvPr>
          <p:cNvSpPr>
            <a:spLocks noGrp="1"/>
          </p:cNvSpPr>
          <p:nvPr/>
        </p:nvSpPr>
        <p:spPr>
          <a:xfrm>
            <a:off x="1971675" y="16868775"/>
            <a:ext cx="8572500" cy="419100"/>
          </a:xfrm>
          <a:prstGeom prst="roundRect">
            <a:avLst>
              <a:gd name="adj" fmla="val 18182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l">
              <a:buNone/>
              <a:defRPr sz="18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Section VII. Challenges and Future Directions</a:t>
            </a:r>
          </a:p>
        </p:txBody>
      </p:sp>
      <p:sp>
        <p:nvSpPr>
          <p:cNvPr id="96" name="section-VII-item-2">
            <a:extLst>
              <a:ext uri="{FF2B5EF4-FFF2-40B4-BE49-F238E27FC236}">
                <a16:creationId xmlns:a16="http://schemas.microsoft.com/office/drawing/2014/main" id="{3CFEA482-BA9A-4FCE-9EA5-0312C9E0949B}"/>
              </a:ext>
            </a:extLst>
          </p:cNvPr>
          <p:cNvSpPr>
            <a:spLocks noGrp="1"/>
          </p:cNvSpPr>
          <p:nvPr/>
        </p:nvSpPr>
        <p:spPr>
          <a:xfrm>
            <a:off x="1619250" y="1752600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CDDF"/>
            </a:solidFill>
            <a:prstDash val="solid"/>
          </a:ln>
        </p:spPr>
        <p:txBody>
          <a:bodyPr wrap="square" lIns="85725" tIns="66675" rIns="85725" bIns="6667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Tokenizer Compatibility</a:t>
            </a:r>
          </a:p>
        </p:txBody>
      </p:sp>
      <p:sp>
        <p:nvSpPr>
          <p:cNvPr id="97" name="section-VII-item-3">
            <a:extLst>
              <a:ext uri="{FF2B5EF4-FFF2-40B4-BE49-F238E27FC236}">
                <a16:creationId xmlns:a16="http://schemas.microsoft.com/office/drawing/2014/main" id="{8A22A51F-76D8-4E5A-9892-4FB831B1B866}"/>
              </a:ext>
            </a:extLst>
          </p:cNvPr>
          <p:cNvSpPr>
            <a:spLocks noGrp="1"/>
          </p:cNvSpPr>
          <p:nvPr/>
        </p:nvSpPr>
        <p:spPr>
          <a:xfrm>
            <a:off x="6000750" y="1752600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CDDF"/>
            </a:solidFill>
            <a:prstDash val="solid"/>
          </a:ln>
        </p:spPr>
        <p:txBody>
          <a:bodyPr wrap="square" lIns="85725" tIns="66675" rIns="85725" bIns="6667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Token-Native Protocols</a:t>
            </a:r>
          </a:p>
        </p:txBody>
      </p:sp>
      <p:sp>
        <p:nvSpPr>
          <p:cNvPr id="98" name="section-VII-item-4">
            <a:extLst>
              <a:ext uri="{FF2B5EF4-FFF2-40B4-BE49-F238E27FC236}">
                <a16:creationId xmlns:a16="http://schemas.microsoft.com/office/drawing/2014/main" id="{F3F1A8DE-129F-4274-9F89-9D07F427A991}"/>
              </a:ext>
            </a:extLst>
          </p:cNvPr>
          <p:cNvSpPr>
            <a:spLocks noGrp="1"/>
          </p:cNvSpPr>
          <p:nvPr/>
        </p:nvSpPr>
        <p:spPr>
          <a:xfrm>
            <a:off x="10382250" y="1752600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CDDF"/>
            </a:solidFill>
            <a:prstDash val="solid"/>
          </a:ln>
        </p:spPr>
        <p:txBody>
          <a:bodyPr wrap="square" lIns="85725" tIns="66675" rIns="85725" bIns="66675" anchor="ctr">
            <a:noAutofit/>
          </a:bodyPr>
          <a:lstStyle/>
          <a:p>
            <a:pPr algn="ctr">
              <a:buNone/>
              <a:defRPr sz="1275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4313A"/>
                </a:solidFill>
                <a:latin typeface="Arial"/>
                <a:ea typeface="Arial"/>
                <a:cs typeface="Arial"/>
              </a:rPr>
              <a:t>Benchmarking, Theory, and Standardization Gaps</a:t>
            </a:r>
          </a:p>
        </p:txBody>
      </p:sp>
      <p:sp>
        <p:nvSpPr>
          <p:cNvPr id="99" name="section-VIII-panel">
            <a:extLst>
              <a:ext uri="{FF2B5EF4-FFF2-40B4-BE49-F238E27FC236}">
                <a16:creationId xmlns:a16="http://schemas.microsoft.com/office/drawing/2014/main" id="{2CA37E2D-83F1-4613-B5BC-1BADD5A6C2F4}"/>
              </a:ext>
            </a:extLst>
          </p:cNvPr>
          <p:cNvSpPr>
            <a:spLocks noGrp="1"/>
          </p:cNvSpPr>
          <p:nvPr/>
        </p:nvSpPr>
        <p:spPr>
          <a:xfrm>
            <a:off x="1238250" y="19026505"/>
            <a:ext cx="13668375" cy="666750"/>
          </a:xfrm>
          <a:prstGeom prst="roundRect">
            <a:avLst>
              <a:gd name="adj" fmla="val 17143"/>
            </a:avLst>
          </a:prstGeom>
          <a:solidFill>
            <a:srgbClr val="E5F2E8"/>
          </a:solidFill>
          <a:ln w="12383">
            <a:solidFill>
              <a:srgbClr val="4F815B"/>
            </a:solidFill>
            <a:prstDash val="solid"/>
          </a:ln>
        </p:spPr>
      </p:sp>
      <p:sp>
        <p:nvSpPr>
          <p:cNvPr id="100" name="section-VIII-badge">
            <a:extLst>
              <a:ext uri="{FF2B5EF4-FFF2-40B4-BE49-F238E27FC236}">
                <a16:creationId xmlns:a16="http://schemas.microsoft.com/office/drawing/2014/main" id="{4153977A-7FC4-4C97-AF19-3D86178577CA}"/>
              </a:ext>
            </a:extLst>
          </p:cNvPr>
          <p:cNvSpPr>
            <a:spLocks noGrp="1"/>
          </p:cNvSpPr>
          <p:nvPr/>
        </p:nvSpPr>
        <p:spPr>
          <a:xfrm>
            <a:off x="1438275" y="19226530"/>
            <a:ext cx="381000" cy="381000"/>
          </a:xfrm>
          <a:prstGeom prst="ellipse">
            <a:avLst/>
          </a:prstGeom>
          <a:solidFill>
            <a:srgbClr val="4F815B"/>
          </a:solidFill>
          <a:ln w="0">
            <a:solidFill>
              <a:srgbClr val="4F815B"/>
            </a:solidFill>
            <a:prstDash val="solid"/>
          </a:ln>
        </p:spPr>
        <p:txBody>
          <a:bodyPr wrap="square" lIns="9525" tIns="9525" rIns="9525" bIns="9525" anchor="ctr">
            <a:noAutofit/>
          </a:bodyPr>
          <a:lstStyle/>
          <a:p>
            <a:pPr algn="ctr"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VIII</a:t>
            </a:r>
          </a:p>
        </p:txBody>
      </p:sp>
      <p:sp>
        <p:nvSpPr>
          <p:cNvPr id="101" name="section-VIII-title">
            <a:extLst>
              <a:ext uri="{FF2B5EF4-FFF2-40B4-BE49-F238E27FC236}">
                <a16:creationId xmlns:a16="http://schemas.microsoft.com/office/drawing/2014/main" id="{22F0EFA1-4C0C-4AE6-8491-6A382957BA70}"/>
              </a:ext>
            </a:extLst>
          </p:cNvPr>
          <p:cNvSpPr>
            <a:spLocks noGrp="1"/>
          </p:cNvSpPr>
          <p:nvPr/>
        </p:nvSpPr>
        <p:spPr>
          <a:xfrm>
            <a:off x="2047875" y="19102705"/>
            <a:ext cx="12239625" cy="457200"/>
          </a:xfrm>
          <a:prstGeom prst="roundRect">
            <a:avLst>
              <a:gd name="adj" fmla="val 16667"/>
            </a:avLst>
          </a:prstGeom>
          <a:noFill/>
          <a:ln w="0">
            <a:noFill/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875" b="1" i="0">
                <a:solidFill>
                  <a:srgbClr val="4F815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F815B"/>
                </a:solidFill>
                <a:latin typeface="Arial"/>
                <a:ea typeface="Arial"/>
                <a:cs typeface="Arial"/>
              </a:rPr>
              <a:t>Section VIII. Conclusions</a:t>
            </a:r>
          </a:p>
        </p:txBody>
      </p:sp>
      <p:sp>
        <p:nvSpPr>
          <p:cNvPr id="25" name="section-I-item-3">
            <a:extLst>
              <a:ext uri="{FF2B5EF4-FFF2-40B4-BE49-F238E27FC236}">
                <a16:creationId xmlns:a16="http://schemas.microsoft.com/office/drawing/2014/main" id="{3309067F-8CCE-6930-FFAA-46F5E1B1412F}"/>
              </a:ext>
            </a:extLst>
          </p:cNvPr>
          <p:cNvSpPr>
            <a:spLocks noGrp="1"/>
          </p:cNvSpPr>
          <p:nvPr/>
        </p:nvSpPr>
        <p:spPr>
          <a:xfrm>
            <a:off x="1924050" y="2076450"/>
            <a:ext cx="6096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FD6DA"/>
            </a:solidFill>
            <a:prstDash val="solid"/>
          </a:ln>
        </p:spPr>
        <p:txBody>
          <a:bodyPr wrap="square" lIns="95250" tIns="66675" rIns="95250" bIns="66675" anchor="ctr">
            <a:noAutofit/>
          </a:bodyPr>
          <a:lstStyle/>
          <a:p>
            <a:pPr algn="ctr">
              <a:buNone/>
              <a:defRPr sz="135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24313A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altLang="zh-CN" sz="1350" b="1" i="0" dirty="0">
                <a:solidFill>
                  <a:srgbClr val="24313A"/>
                </a:solidFill>
                <a:latin typeface="Arial"/>
                <a:ea typeface="Arial"/>
                <a:cs typeface="Arial"/>
              </a:rPr>
              <a:t>esearch motivations</a:t>
            </a:r>
            <a:endParaRPr sz="1350" b="1" i="0" dirty="0">
              <a:solidFill>
                <a:srgbClr val="243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ection-V-agentic-item-1">
            <a:extLst>
              <a:ext uri="{FF2B5EF4-FFF2-40B4-BE49-F238E27FC236}">
                <a16:creationId xmlns:a16="http://schemas.microsoft.com/office/drawing/2014/main" id="{A378BE5D-3CDF-3910-1968-C05AB525AE61}"/>
              </a:ext>
            </a:extLst>
          </p:cNvPr>
          <p:cNvSpPr>
            <a:spLocks noGrp="1"/>
          </p:cNvSpPr>
          <p:nvPr/>
        </p:nvSpPr>
        <p:spPr>
          <a:xfrm>
            <a:off x="6096000" y="12615863"/>
            <a:ext cx="361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C88E"/>
            </a:solidFill>
            <a:prstDash val="solid"/>
          </a:ln>
        </p:spPr>
        <p:txBody>
          <a:bodyPr wrap="square" lIns="66675" tIns="38100" rIns="66675" bIns="38100" anchor="ctr">
            <a:noAutofit/>
          </a:bodyPr>
          <a:lstStyle/>
          <a:p>
            <a:pPr algn="ctr">
              <a:buNone/>
              <a:defRPr sz="1200" b="1" i="0">
                <a:solidFill>
                  <a:srgbClr val="24313A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24313A"/>
                </a:solidFill>
                <a:latin typeface="Arial"/>
                <a:ea typeface="Arial"/>
                <a:cs typeface="Arial"/>
              </a:rPr>
              <a:t>Agentic Model and tool routing</a:t>
            </a:r>
            <a:endParaRPr sz="1200" b="1" i="0" dirty="0">
              <a:solidFill>
                <a:srgbClr val="24313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5075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DocSecurity>0</DocSecurity>
  <PresentationFormat>自定义</PresentationFormat>
  <Paragraphs>69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JIONG li</cp:lastModifiedBy>
  <cp:revision>3</cp:revision>
  <dcterms:created xsi:type="dcterms:W3CDTF">2026-09-30T17:35:56Z</dcterms:created>
  <dcterms:modified xsi:type="dcterms:W3CDTF">2026-09-30T18:16:04Z</dcterms:modified>
</cp:coreProperties>
</file>